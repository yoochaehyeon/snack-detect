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77" r:id="rId4"/>
    <p:sldId id="276" r:id="rId5"/>
    <p:sldId id="270" r:id="rId6"/>
    <p:sldId id="269" r:id="rId7"/>
    <p:sldId id="264" r:id="rId8"/>
    <p:sldId id="284" r:id="rId9"/>
    <p:sldId id="267" r:id="rId10"/>
    <p:sldId id="285" r:id="rId11"/>
    <p:sldId id="266" r:id="rId12"/>
    <p:sldId id="274" r:id="rId13"/>
    <p:sldId id="271" r:id="rId14"/>
    <p:sldId id="275" r:id="rId15"/>
    <p:sldId id="283" r:id="rId16"/>
    <p:sldId id="281" r:id="rId17"/>
    <p:sldId id="272" r:id="rId18"/>
    <p:sldId id="286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AEA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646" autoAdjust="0"/>
    <p:restoredTop sz="90376" autoAdjust="0"/>
  </p:normalViewPr>
  <p:slideViewPr>
    <p:cSldViewPr snapToGrid="0">
      <p:cViewPr varScale="1">
        <p:scale>
          <a:sx n="74" d="100"/>
          <a:sy n="74" d="100"/>
        </p:scale>
        <p:origin x="82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E12275-4611-41BD-BA8E-3851E03DCAA4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DBF8CEF-ACF1-42DD-BC45-A83DB680316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5923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60151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A5BF0F-9A79-F4E4-4F05-55842FF3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1C017D5-5E8B-7810-F2FE-2DA86AD1A6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2AA1FD0-F075-70B4-9047-D1F78AB7FE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5F6743-526C-5439-2072-C5F0B56CC1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380548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44668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9DC1-E6A0-A4D8-0D34-F83091685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06E607D-5263-C3E6-D8A0-8C450086B28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0FB92DC-24E2-E640-A8F7-53AC6918EF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8A1A1FD-3657-14E5-F1F1-7176CE8F51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942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199623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72275-C0F2-39C5-85FB-D925C18859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D2956362-AC74-E39D-63FF-0F2229DA16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C689272-AA72-4CC3-F8F4-5081B4B8E9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0A35F19-679A-B1B1-2CC8-C407E2F2A4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824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505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BF3B7C-938B-3786-B55F-D7F7890ED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DFE1ECB-1ECA-E423-5B02-A57CBA53D1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6CEEE5B-18EA-8A96-0E3E-66EFD6D232C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ko-KR" altLang="ko-KR" sz="1200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C335E-5902-6186-7925-092F2F7CC1D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774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2811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560019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6BE4C-F19B-21D8-50C2-D007A03BC7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E6A5666-ADDD-A958-E759-DD4DD273EB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E2D3647-D2B9-1286-33DA-758F09B14FF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777729-B606-4830-CBF4-E4B2934D71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6283372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ABC797-A0B7-A4E8-AD06-5A770325E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7677A04-0671-F775-E41E-B488722A3FE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876DCDE3-229B-F2ED-8439-2A507D1F2D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E4527E-311D-C73B-1D5C-D38CEFD0270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35241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40952-6612-914B-D09E-91A22BE37C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52AFFA1-7159-D44D-CA42-3E6A627F27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71F993D-23AE-571C-A62A-7B888783E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BD8DF74-9AEE-A840-6A5C-86A2D324B17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356421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CB823-62BE-AF80-9814-FFD27B2D23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07D57A1-E4E0-D579-4236-5A7671D1C4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3EE0D7-D05E-5DFD-5005-BB89E17F5A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B05F4D8-6D5B-54EB-FD01-0323020BB3F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37017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FAE24-EE68-1A70-15A7-B0CA97E44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9E1A0DB-540F-F24D-7CD6-2EB712D9753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B26281A-F77B-9466-FEE9-C9F044C7A4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863FD7-6118-2DBC-DD03-F220D2CDF9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68931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84988C-5625-ED22-5EE7-4B290D3D6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115C024-AC72-ECBC-CF5C-B9FBEAC048B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E27F42-3340-6495-71D6-D210F28F05A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F6E2006-2824-7648-8844-18F0A4CD81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DBF8CEF-ACF1-42DD-BC45-A83DB6803164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7769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8D32AF-CF27-EDB7-583B-4E19E5A416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3C64070-EDBB-741F-4FB6-523031B6A6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4D19946-12E8-AF91-CDE3-F979179AB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AF2A9B1-E0D8-74C4-350E-2B84902CEE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1C6136-5C0B-0E99-8942-DE8F936F24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08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DFAB51-5444-578B-F21F-F49468C3C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6C0BEE-8E08-DF42-F08A-ED6C9C5CC1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B7EF049-8D00-4749-2AFB-79EA3E8C5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1F13DDA-6160-46CD-604C-55265EAFFE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457675-319A-012A-06CA-F669CE545F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378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AC98B5-0921-4632-4E63-E9A0725C4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F68D577-4619-33A6-C19D-FF64BAC72F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9C4FC9-96FC-FB96-EEBF-5F93C30E2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8D33FF-6F9D-AD59-BF4C-D50509FBF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210037-14E6-EE02-3098-1ED915B172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9968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5D7E04-BD30-439B-F851-F85BE32E8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3B8945-BE93-F5CD-514E-A0382806AA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08FC53-C620-D641-F340-D9DC6863D9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5907494-9B7E-B8C7-BA7C-B5F976B093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6ECBD30-3F65-5045-6F12-D69B3AFE2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0319FFA-83AF-705F-42B5-14195C7D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9124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F61026-7F3E-A007-1649-BD4901BD43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C3BD09B-F6FD-454E-A5F0-2A46CDAD4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DACC879-91CF-008F-165F-C6623DA3D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A38940F-7D8A-69DF-A1D6-60096CB1DA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3271371-4BEE-DE1D-C030-C0A054DE4DE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240C8A7-A23F-726D-6026-AC01B1913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177862F-1BB8-44E8-AE62-B927C3239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D7675DC-57A2-030E-966E-673F6C6B6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447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8A438E-56C3-E93E-9CD9-5709C3E2E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BCD39D09-9710-A933-9A2C-0C8DAD05E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DF375DA-E168-A654-32F8-1D997BBC9D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0AC18222-4F66-35B6-7240-E66A28A655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3792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F1A1F59-39FE-4E29-4D61-78450F2AA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EC025DA-6442-5C65-F196-A14C202B1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ECA41A7-2857-C301-EFD3-EBEBA2EC69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9860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677938-7C40-E8AF-B574-9F562B4FD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B0AF96-7E37-A8DB-5982-1728E01004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6AD8A74-C522-441B-D68B-E40FAFEC60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00FD3EC-E396-026C-6217-E422CE821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682566D-423B-D90F-ECFE-C77F26CE79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B83B16-C61F-F9D7-D2DF-2D9034C72E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7606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166E76-C520-D11E-835A-FA73693CC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2D83373B-921B-780A-0FAE-373583784F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B8301F4-DB93-55F3-6A5E-FCDD66FC6E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2EA05F-25DA-A709-5175-455D766D2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FE2DD12-7DB7-BB67-F4D3-957510FA05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2D22771-2872-CEDC-7FBA-9AEB8FA45C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9555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1F1B95-1E54-0BF0-8CD3-925826ABE2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25A836D-6ABD-7915-78B1-53E52996B4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511E02-CF5A-D232-630A-FB97A4A45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8104B80-F193-0DBA-2676-22306FB8F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48C9177-3BCD-3AC7-E388-E45953CEE6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7185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E38E7AD8-ED27-4F65-C3D6-F8D748AA44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47327D3-3014-3C40-658A-D023254DAA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ED725D-3F43-913A-8FFD-60062767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EDB841-DEBF-4FAF-E1B7-F9BED57E3C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7187268-4E8F-F142-03BF-513FAA4768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77610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623A3F-BE02-C7B5-4DA0-5C7434C48B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6D302B3-4591-30C6-6271-3D6BEBEF6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6F13AB-B83D-6976-04E0-83F316BE75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CB5257-3E83-4AE2-868C-A630E5DEC47D}" type="datetimeFigureOut">
              <a:rPr lang="ko-KR" altLang="en-US" smtClean="0"/>
              <a:t>2026-06-10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7B6A591-9C5A-30FD-8F29-E916E93069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9361CF-DB34-7499-E5CA-3D955E08B8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67A3F0-CB1F-43BF-A950-53311CCB31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78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0" name="Picture 12" descr="Amazon.com : Digital Camera, 1080P Camera with 2.4 Inch Display, Compact  Point and Shoot Support 16X Digital Zoom, Portable Video for Beginners,  Kids : Electronics">
            <a:extLst>
              <a:ext uri="{FF2B5EF4-FFF2-40B4-BE49-F238E27FC236}">
                <a16:creationId xmlns:a16="http://schemas.microsoft.com/office/drawing/2014/main" id="{FD6F8247-AB22-0EDA-F051-8B438979D4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5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3035" y="690920"/>
            <a:ext cx="2478251" cy="2478251"/>
          </a:xfrm>
          <a:prstGeom prst="rect">
            <a:avLst/>
          </a:prstGeom>
          <a:noFill/>
          <a:effectLst>
            <a:outerShdw dist="50800" dir="5400000" algn="ctr" rotWithShape="0">
              <a:srgbClr val="000000">
                <a:alpha val="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029726E-22AA-CF9B-A25E-CE3C4A932B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75071" y="1718366"/>
            <a:ext cx="9144000" cy="2387600"/>
          </a:xfrm>
        </p:spPr>
        <p:txBody>
          <a:bodyPr>
            <a:normAutofit fontScale="90000"/>
          </a:bodyPr>
          <a:lstStyle/>
          <a:p>
            <a:pPr algn="l"/>
            <a:r>
              <a:rPr lang="ko-KR" altLang="ko-KR" b="1" dirty="0"/>
              <a:t>실시간</a:t>
            </a:r>
            <a:br>
              <a:rPr lang="ko-KR" altLang="ko-KR" b="1" dirty="0">
                <a:effectLst/>
              </a:rPr>
            </a:br>
            <a:r>
              <a:rPr lang="ko-KR" altLang="ko-KR" b="1" dirty="0">
                <a:solidFill>
                  <a:schemeClr val="tx2">
                    <a:lumMod val="90000"/>
                    <a:lumOff val="10000"/>
                  </a:schemeClr>
                </a:solidFill>
              </a:rPr>
              <a:t>과자 인식</a:t>
            </a:r>
            <a:r>
              <a:rPr lang="ko-KR" altLang="ko-KR" b="1" dirty="0"/>
              <a:t> 시스템</a:t>
            </a:r>
            <a:br>
              <a:rPr lang="ko-KR" altLang="ko-KR" dirty="0">
                <a:effectLst/>
              </a:rPr>
            </a:b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2AB63A5-6CC8-0CDF-060B-29A02761C2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34098" y="4292114"/>
            <a:ext cx="3185653" cy="443874"/>
          </a:xfrm>
        </p:spPr>
        <p:txBody>
          <a:bodyPr>
            <a:normAutofit/>
          </a:bodyPr>
          <a:lstStyle/>
          <a:p>
            <a:r>
              <a:rPr lang="ko-KR" altLang="ko-KR" sz="1600" i="0" dirty="0" err="1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AI학과</a:t>
            </a:r>
            <a:r>
              <a:rPr lang="ko-KR" altLang="ko-KR" sz="1600" i="0" dirty="0">
                <a:solidFill>
                  <a:schemeClr val="tx1">
                    <a:lumMod val="65000"/>
                    <a:lumOff val="35000"/>
                  </a:schemeClr>
                </a:solidFill>
                <a:effectLst/>
              </a:rPr>
              <a:t> 유채현, 이세이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E6F750-FFEC-C597-C247-93B4117E4715}"/>
              </a:ext>
            </a:extLst>
          </p:cNvPr>
          <p:cNvSpPr txBox="1"/>
          <p:nvPr/>
        </p:nvSpPr>
        <p:spPr>
          <a:xfrm>
            <a:off x="875071" y="339438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b="0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Real-time</a:t>
            </a:r>
            <a:r>
              <a:rPr lang="ko-KR" altLang="ko-KR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</a:t>
            </a:r>
            <a:r>
              <a:rPr lang="ko-KR" altLang="ko-KR" b="0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Snack</a:t>
            </a:r>
            <a:r>
              <a:rPr lang="ko-KR" altLang="ko-KR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</a:t>
            </a:r>
            <a:r>
              <a:rPr lang="ko-KR" altLang="ko-KR" b="0" i="0" dirty="0" err="1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Recognition</a:t>
            </a:r>
            <a:r>
              <a:rPr lang="ko-KR" altLang="ko-KR" b="0" i="0" dirty="0"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 System</a:t>
            </a:r>
            <a:endParaRPr lang="ko-KR" altLang="en-US" dirty="0">
              <a:solidFill>
                <a:schemeClr val="tx2">
                  <a:lumMod val="25000"/>
                  <a:lumOff val="75000"/>
                </a:schemeClr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866376-5B94-1704-ECC9-4D001F70ED71}"/>
              </a:ext>
            </a:extLst>
          </p:cNvPr>
          <p:cNvSpPr txBox="1"/>
          <p:nvPr/>
        </p:nvSpPr>
        <p:spPr>
          <a:xfrm>
            <a:off x="875071" y="521643"/>
            <a:ext cx="6096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ko-KR" sz="1600" b="0" i="0" dirty="0">
                <a:solidFill>
                  <a:schemeClr val="bg2">
                    <a:lumMod val="90000"/>
                  </a:schemeClr>
                </a:solidFill>
                <a:effectLst/>
              </a:rPr>
              <a:t>AI VISION &gt; REAL-TIME RECOGNITION SYSTEM</a:t>
            </a:r>
            <a:endParaRPr lang="ko-KR" altLang="en-US" sz="1600" dirty="0">
              <a:solidFill>
                <a:schemeClr val="bg2">
                  <a:lumMod val="90000"/>
                </a:schemeClr>
              </a:solidFill>
            </a:endParaRP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1FC7B669-5BA5-B3E5-CD7F-B8C8D7938CB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62622" y="2239147"/>
            <a:ext cx="1189853" cy="1189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>
            <a:extLst>
              <a:ext uri="{FF2B5EF4-FFF2-40B4-BE49-F238E27FC236}">
                <a16:creationId xmlns:a16="http://schemas.microsoft.com/office/drawing/2014/main" id="{52DDFF8F-5BBA-5449-1920-B0CC0E89C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1535" y="933701"/>
            <a:ext cx="1170038" cy="1170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>
            <a:extLst>
              <a:ext uri="{FF2B5EF4-FFF2-40B4-BE49-F238E27FC236}">
                <a16:creationId xmlns:a16="http://schemas.microsoft.com/office/drawing/2014/main" id="{90038371-0316-C823-7F3F-61C796094D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26682" y="4977047"/>
            <a:ext cx="1125793" cy="1125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>
            <a:extLst>
              <a:ext uri="{FF2B5EF4-FFF2-40B4-BE49-F238E27FC236}">
                <a16:creationId xmlns:a16="http://schemas.microsoft.com/office/drawing/2014/main" id="{299EA015-95C5-D840-29CA-FA47F7E97B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83409" y="3501747"/>
            <a:ext cx="1327746" cy="1327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121AD2C9-ED43-340A-CE1A-B83917432E1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31978" y="2051821"/>
            <a:ext cx="2304304" cy="3205543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  <p:sp>
        <p:nvSpPr>
          <p:cNvPr id="22" name="직사각형 21">
            <a:extLst>
              <a:ext uri="{FF2B5EF4-FFF2-40B4-BE49-F238E27FC236}">
                <a16:creationId xmlns:a16="http://schemas.microsoft.com/office/drawing/2014/main" id="{550A7E84-B308-5BB5-6E5F-BB19F84B64CA}"/>
              </a:ext>
            </a:extLst>
          </p:cNvPr>
          <p:cNvSpPr/>
          <p:nvPr/>
        </p:nvSpPr>
        <p:spPr>
          <a:xfrm>
            <a:off x="6594181" y="1428186"/>
            <a:ext cx="1488564" cy="33855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chemeClr val="accent3">
                    <a:lumMod val="20000"/>
                    <a:lumOff val="80000"/>
                  </a:schemeClr>
                </a:solidFill>
              </a:ln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B5E348-90C4-B8B7-510C-D5856DE4C1D3}"/>
              </a:ext>
            </a:extLst>
          </p:cNvPr>
          <p:cNvSpPr txBox="1"/>
          <p:nvPr/>
        </p:nvSpPr>
        <p:spPr>
          <a:xfrm>
            <a:off x="6614861" y="1383868"/>
            <a:ext cx="18091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/>
              <a:t> </a:t>
            </a:r>
            <a:r>
              <a:rPr lang="en-US" altLang="ko-KR" sz="1200" b="1" dirty="0" err="1">
                <a:solidFill>
                  <a:schemeClr val="accent3">
                    <a:lumMod val="60000"/>
                    <a:lumOff val="40000"/>
                  </a:schemeClr>
                </a:solidFill>
              </a:rPr>
              <a:t>Ogamja</a:t>
            </a:r>
            <a:r>
              <a:rPr lang="en-US" altLang="ko-KR" sz="1200" b="1" dirty="0">
                <a:solidFill>
                  <a:schemeClr val="accent3">
                    <a:lumMod val="60000"/>
                    <a:lumOff val="40000"/>
                  </a:schemeClr>
                </a:solidFill>
              </a:rPr>
              <a:t>  71.4%</a:t>
            </a:r>
            <a:endParaRPr lang="ko-KR" altLang="en-US" sz="1200" b="1" dirty="0">
              <a:solidFill>
                <a:schemeClr val="accent3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03538813-BB5B-DB43-A51C-9C22AFAC5A4B}"/>
              </a:ext>
            </a:extLst>
          </p:cNvPr>
          <p:cNvSpPr/>
          <p:nvPr/>
        </p:nvSpPr>
        <p:spPr>
          <a:xfrm>
            <a:off x="9626682" y="835742"/>
            <a:ext cx="2221189" cy="1267997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1FFCFBB9-C2EB-90BE-1220-619816AD711B}"/>
              </a:ext>
            </a:extLst>
          </p:cNvPr>
          <p:cNvSpPr/>
          <p:nvPr/>
        </p:nvSpPr>
        <p:spPr>
          <a:xfrm>
            <a:off x="9626681" y="2177696"/>
            <a:ext cx="2221189" cy="1267997"/>
          </a:xfrm>
          <a:prstGeom prst="rect">
            <a:avLst/>
          </a:prstGeom>
          <a:noFill/>
          <a:ln>
            <a:solidFill>
              <a:schemeClr val="tx2">
                <a:lumMod val="25000"/>
                <a:lumOff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0D61C94-DF6D-3E49-9340-4A6965EABA01}"/>
              </a:ext>
            </a:extLst>
          </p:cNvPr>
          <p:cNvSpPr/>
          <p:nvPr/>
        </p:nvSpPr>
        <p:spPr>
          <a:xfrm>
            <a:off x="9626680" y="3540674"/>
            <a:ext cx="2221189" cy="1267997"/>
          </a:xfrm>
          <a:prstGeom prst="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1389FCC5-E170-55C2-6F2A-74E16AAEAB79}"/>
              </a:ext>
            </a:extLst>
          </p:cNvPr>
          <p:cNvSpPr/>
          <p:nvPr/>
        </p:nvSpPr>
        <p:spPr>
          <a:xfrm>
            <a:off x="9626679" y="4905946"/>
            <a:ext cx="2221189" cy="1267997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1849001-5066-4B2D-C07B-A0807102EDE3}"/>
              </a:ext>
            </a:extLst>
          </p:cNvPr>
          <p:cNvSpPr txBox="1"/>
          <p:nvPr/>
        </p:nvSpPr>
        <p:spPr>
          <a:xfrm>
            <a:off x="10432025" y="1124098"/>
            <a:ext cx="203527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bg2">
                    <a:lumMod val="50000"/>
                  </a:schemeClr>
                </a:solidFill>
              </a:rPr>
              <a:t>Pocachip</a:t>
            </a:r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 Original</a:t>
            </a:r>
            <a:endParaRPr lang="ko-KR" alt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55233B5-CF08-2000-245D-8A5065AB4ED3}"/>
              </a:ext>
            </a:extLst>
          </p:cNvPr>
          <p:cNvSpPr txBox="1"/>
          <p:nvPr/>
        </p:nvSpPr>
        <p:spPr>
          <a:xfrm>
            <a:off x="10607475" y="3838551"/>
            <a:ext cx="10198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b="1" dirty="0" err="1">
                <a:solidFill>
                  <a:schemeClr val="accent5">
                    <a:lumMod val="60000"/>
                    <a:lumOff val="40000"/>
                  </a:schemeClr>
                </a:solidFill>
              </a:rPr>
              <a:t>BananaKick</a:t>
            </a:r>
            <a:endParaRPr lang="en-US" altLang="ko-KR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ACCDA6-085C-00EF-C931-F00E9AEF5DA3}"/>
              </a:ext>
            </a:extLst>
          </p:cNvPr>
          <p:cNvSpPr txBox="1"/>
          <p:nvPr/>
        </p:nvSpPr>
        <p:spPr>
          <a:xfrm>
            <a:off x="10791491" y="4210531"/>
            <a:ext cx="74725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5">
                    <a:lumMod val="60000"/>
                    <a:lumOff val="40000"/>
                  </a:schemeClr>
                </a:solidFill>
              </a:rPr>
              <a:t>94.7%</a:t>
            </a:r>
            <a:endParaRPr lang="ko-KR" altLang="en-US" sz="1200" b="1" dirty="0">
              <a:solidFill>
                <a:schemeClr val="accent5">
                  <a:lumMod val="60000"/>
                  <a:lumOff val="40000"/>
                </a:schemeClr>
              </a:solidFill>
            </a:endParaRPr>
          </a:p>
          <a:p>
            <a:endParaRPr lang="ko-KR" alt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CC3FF94-F016-1282-07E8-49426BB7034A}"/>
              </a:ext>
            </a:extLst>
          </p:cNvPr>
          <p:cNvSpPr txBox="1"/>
          <p:nvPr/>
        </p:nvSpPr>
        <p:spPr>
          <a:xfrm>
            <a:off x="10778432" y="5229074"/>
            <a:ext cx="103482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rgbClr val="FFC000"/>
                </a:solidFill>
              </a:rPr>
              <a:t>Postick</a:t>
            </a:r>
            <a:endParaRPr lang="en-US" altLang="ko-KR" sz="1200" b="1" dirty="0">
              <a:solidFill>
                <a:srgbClr val="FFC000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13CCEF0-6B3C-8206-F4B9-36BBA1FA6559}"/>
              </a:ext>
            </a:extLst>
          </p:cNvPr>
          <p:cNvSpPr txBox="1"/>
          <p:nvPr/>
        </p:nvSpPr>
        <p:spPr>
          <a:xfrm>
            <a:off x="10846984" y="5570097"/>
            <a:ext cx="10323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rgbClr val="FFC000"/>
                </a:solidFill>
              </a:rPr>
              <a:t>86.3%</a:t>
            </a:r>
            <a:endParaRPr lang="ko-KR" altLang="en-US" sz="1200" b="1" dirty="0">
              <a:solidFill>
                <a:srgbClr val="FFC000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95A5A39-5BBC-5459-06F3-2CC0FCEBEDD5}"/>
              </a:ext>
            </a:extLst>
          </p:cNvPr>
          <p:cNvSpPr txBox="1"/>
          <p:nvPr/>
        </p:nvSpPr>
        <p:spPr>
          <a:xfrm>
            <a:off x="10614447" y="2449035"/>
            <a:ext cx="202571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 err="1">
                <a:solidFill>
                  <a:schemeClr val="accent1">
                    <a:lumMod val="40000"/>
                    <a:lumOff val="60000"/>
                  </a:schemeClr>
                </a:solidFill>
              </a:rPr>
              <a:t>Yanhpaling</a:t>
            </a:r>
            <a:endParaRPr lang="en-US" altLang="ko-KR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6419155-0B6A-3FC5-C810-ABC0D0E869EA}"/>
              </a:ext>
            </a:extLst>
          </p:cNvPr>
          <p:cNvSpPr txBox="1"/>
          <p:nvPr/>
        </p:nvSpPr>
        <p:spPr>
          <a:xfrm>
            <a:off x="10787476" y="2820268"/>
            <a:ext cx="96356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78.3%</a:t>
            </a:r>
            <a:endParaRPr lang="ko-KR" altLang="en-US" sz="1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79053A8-C8CC-E4C6-046A-F89B2F89BAF4}"/>
              </a:ext>
            </a:extLst>
          </p:cNvPr>
          <p:cNvSpPr txBox="1"/>
          <p:nvPr/>
        </p:nvSpPr>
        <p:spPr>
          <a:xfrm>
            <a:off x="10751572" y="1537664"/>
            <a:ext cx="139618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solidFill>
                  <a:schemeClr val="bg2">
                    <a:lumMod val="50000"/>
                  </a:schemeClr>
                </a:solidFill>
              </a:rPr>
              <a:t>72.7%</a:t>
            </a:r>
            <a:endParaRPr lang="ko-KR" altLang="en-US" sz="1200" b="1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B4F7C96-3285-983C-71E7-712E8174A990}"/>
              </a:ext>
            </a:extLst>
          </p:cNvPr>
          <p:cNvSpPr txBox="1"/>
          <p:nvPr/>
        </p:nvSpPr>
        <p:spPr>
          <a:xfrm>
            <a:off x="6719751" y="1832123"/>
            <a:ext cx="1720645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b="1" dirty="0">
                <a:solidFill>
                  <a:srgbClr val="FF0000"/>
                </a:solidFill>
              </a:rPr>
              <a:t>● LIVE</a:t>
            </a:r>
            <a:endParaRPr lang="ko-KR" altLang="en-US" sz="1300" b="1" dirty="0">
              <a:solidFill>
                <a:srgbClr val="FF0000"/>
              </a:solidFill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90F7FFAE-E6D4-99C4-BCAF-4A5A873B03D4}"/>
              </a:ext>
            </a:extLst>
          </p:cNvPr>
          <p:cNvSpPr/>
          <p:nvPr/>
        </p:nvSpPr>
        <p:spPr>
          <a:xfrm>
            <a:off x="6594181" y="1757154"/>
            <a:ext cx="2777834" cy="3734870"/>
          </a:xfrm>
          <a:prstGeom prst="rect">
            <a:avLst/>
          </a:prstGeom>
          <a:noFill/>
          <a:ln w="38100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46227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E370C3-9D6A-9E84-8A01-EEDEA7C195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D7F9438-1E53-DE83-FEA7-7CAFAC87211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4163"/>
            <a:ext cx="10515600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01</a:t>
            </a:r>
            <a:r>
              <a:rPr lang="en-US" altLang="ko-KR" sz="2000" dirty="0"/>
              <a:t> </a:t>
            </a:r>
            <a:r>
              <a:rPr lang="ko-KR" altLang="en-US" sz="2000" dirty="0"/>
              <a:t>프로젝트 소개</a:t>
            </a:r>
            <a:endParaRPr lang="en-US" altLang="ko-KR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2000" dirty="0"/>
              <a:t> </a:t>
            </a:r>
            <a:r>
              <a:rPr lang="ko-KR" altLang="en-US" sz="2000" dirty="0"/>
              <a:t>시스템 구조</a:t>
            </a:r>
            <a:endParaRPr lang="en-US" altLang="ko-KR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03</a:t>
            </a:r>
            <a:r>
              <a:rPr lang="en-US" altLang="ko-KR" sz="2000" dirty="0"/>
              <a:t> </a:t>
            </a:r>
            <a:r>
              <a:rPr lang="ko-KR" altLang="en-US" sz="2000" dirty="0"/>
              <a:t>파이프라인</a:t>
            </a:r>
            <a:endParaRPr lang="en-US" altLang="ko-KR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 </a:t>
            </a:r>
            <a:r>
              <a:rPr lang="ko-KR" altLang="en-US" sz="2000" dirty="0"/>
              <a:t>과자 인식 </a:t>
            </a:r>
            <a:r>
              <a:rPr lang="ko-KR" altLang="ko-KR" sz="2000" dirty="0"/>
              <a:t>결</a:t>
            </a:r>
            <a:r>
              <a:rPr lang="ko-KR" altLang="en-US" sz="2000" dirty="0"/>
              <a:t>과 및 한계점</a:t>
            </a:r>
            <a:endParaRPr lang="en-US" altLang="ko-KR" sz="2000" dirty="0"/>
          </a:p>
          <a:p>
            <a:pPr marL="0" indent="0">
              <a:lnSpc>
                <a:spcPct val="200000"/>
              </a:lnSpc>
              <a:buNone/>
            </a:pPr>
            <a:r>
              <a:rPr lang="en-US" altLang="ko-KR" sz="20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05 </a:t>
            </a:r>
            <a:r>
              <a:rPr lang="ko-KR" altLang="en-US" sz="2000" dirty="0"/>
              <a:t>시연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7941BF4-EF82-87C5-E45F-19146747EC0D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751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D1B95-20EE-67A3-A250-89E586B7A7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894EDC-1B35-88F8-F73F-13B871A92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10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종의 과자 인식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3304C1C4-AEA7-057B-1F4A-3C8E10DF8BF4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57BD91D7-1A3F-E547-03EE-C0F4763096A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13" t="18661"/>
          <a:stretch>
            <a:fillRect/>
          </a:stretch>
        </p:blipFill>
        <p:spPr>
          <a:xfrm>
            <a:off x="671827" y="4057686"/>
            <a:ext cx="1916256" cy="19665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7677D611-F806-56F5-78D3-B770D3F8A4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40" t="15155" r="6478"/>
          <a:stretch>
            <a:fillRect/>
          </a:stretch>
        </p:blipFill>
        <p:spPr>
          <a:xfrm>
            <a:off x="7195613" y="4057686"/>
            <a:ext cx="1890953" cy="19552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F50D603-646E-C363-CDE0-2422C763EC3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541" t="10381" r="6609"/>
          <a:stretch>
            <a:fillRect/>
          </a:stretch>
        </p:blipFill>
        <p:spPr>
          <a:xfrm>
            <a:off x="674799" y="1530101"/>
            <a:ext cx="1916256" cy="19670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361EA60-9DBE-CB76-539D-59B2DDA86CF5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463" t="13590" r="11687"/>
          <a:stretch>
            <a:fillRect/>
          </a:stretch>
        </p:blipFill>
        <p:spPr>
          <a:xfrm>
            <a:off x="2832024" y="1522971"/>
            <a:ext cx="1943355" cy="19742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9EF046F-C201-1860-ED86-157CA2DC7FB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342" t="12283" r="2621" b="3632"/>
          <a:stretch>
            <a:fillRect/>
          </a:stretch>
        </p:blipFill>
        <p:spPr>
          <a:xfrm>
            <a:off x="5016348" y="1530644"/>
            <a:ext cx="1908226" cy="19665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07A534A2-7BFF-5683-D821-DCEEB6869A8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7632" t="9956" r="1831"/>
          <a:stretch>
            <a:fillRect/>
          </a:stretch>
        </p:blipFill>
        <p:spPr>
          <a:xfrm>
            <a:off x="7165543" y="1504024"/>
            <a:ext cx="1890953" cy="19931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9087A59B-7968-B377-88C7-ED57438D63D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541" t="16428" r="6632"/>
          <a:stretch>
            <a:fillRect/>
          </a:stretch>
        </p:blipFill>
        <p:spPr>
          <a:xfrm>
            <a:off x="5023353" y="4057686"/>
            <a:ext cx="1924286" cy="19665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ABCB3F6-C181-1880-5A57-7094108C8EBF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4984" t="12837" r="2441"/>
          <a:stretch>
            <a:fillRect/>
          </a:stretch>
        </p:blipFill>
        <p:spPr>
          <a:xfrm>
            <a:off x="9317725" y="4057686"/>
            <a:ext cx="1895996" cy="19552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C3DF18B-068A-394E-A5E4-2FF184D803C0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6399" t="9728" b="6116"/>
          <a:stretch>
            <a:fillRect/>
          </a:stretch>
        </p:blipFill>
        <p:spPr>
          <a:xfrm>
            <a:off x="9297465" y="1504024"/>
            <a:ext cx="1916256" cy="19552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96FA0DC-8162-1DC8-5F09-2E2EAD45AC0B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4703" t="21447" r="10493"/>
          <a:stretch>
            <a:fillRect/>
          </a:stretch>
        </p:blipFill>
        <p:spPr>
          <a:xfrm>
            <a:off x="2859123" y="4057686"/>
            <a:ext cx="1916256" cy="19665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452AE34D-CDC6-32D9-0585-FC9E9C736F49}"/>
              </a:ext>
            </a:extLst>
          </p:cNvPr>
          <p:cNvSpPr txBox="1"/>
          <p:nvPr/>
        </p:nvSpPr>
        <p:spPr>
          <a:xfrm>
            <a:off x="1026741" y="3607987"/>
            <a:ext cx="1832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Yangpaling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518217-0425-C566-DF5E-9D9425628E13}"/>
              </a:ext>
            </a:extLst>
          </p:cNvPr>
          <p:cNvSpPr txBox="1"/>
          <p:nvPr/>
        </p:nvSpPr>
        <p:spPr>
          <a:xfrm>
            <a:off x="3293918" y="3607986"/>
            <a:ext cx="1340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CornChis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79DE90-ED27-027D-F3B5-EAEA64C13969}"/>
              </a:ext>
            </a:extLst>
          </p:cNvPr>
          <p:cNvSpPr txBox="1"/>
          <p:nvPr/>
        </p:nvSpPr>
        <p:spPr>
          <a:xfrm>
            <a:off x="5494087" y="3607984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Postick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7E7E76D-2A23-00E8-41C5-1328C121C2EE}"/>
              </a:ext>
            </a:extLst>
          </p:cNvPr>
          <p:cNvSpPr txBox="1"/>
          <p:nvPr/>
        </p:nvSpPr>
        <p:spPr>
          <a:xfrm>
            <a:off x="7557655" y="3607985"/>
            <a:ext cx="155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JollyPong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35FBF25-95AE-FBAD-45F1-D8D031F39FE8}"/>
              </a:ext>
            </a:extLst>
          </p:cNvPr>
          <p:cNvSpPr txBox="1"/>
          <p:nvPr/>
        </p:nvSpPr>
        <p:spPr>
          <a:xfrm>
            <a:off x="9714880" y="3607984"/>
            <a:ext cx="1594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Kkobugchip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E82A11F-0E55-4EBC-2266-1DF0DA20D022}"/>
              </a:ext>
            </a:extLst>
          </p:cNvPr>
          <p:cNvSpPr txBox="1"/>
          <p:nvPr/>
        </p:nvSpPr>
        <p:spPr>
          <a:xfrm>
            <a:off x="868889" y="6139655"/>
            <a:ext cx="180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Pocachip_Original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3613C17-3D2F-AD40-462B-CD6C6732AFC1}"/>
              </a:ext>
            </a:extLst>
          </p:cNvPr>
          <p:cNvSpPr txBox="1"/>
          <p:nvPr/>
        </p:nvSpPr>
        <p:spPr>
          <a:xfrm>
            <a:off x="3403126" y="6139654"/>
            <a:ext cx="1335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Jianggu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570D3D8-F609-F934-DCF0-9A2BDFA9F291}"/>
              </a:ext>
            </a:extLst>
          </p:cNvPr>
          <p:cNvSpPr txBox="1"/>
          <p:nvPr/>
        </p:nvSpPr>
        <p:spPr>
          <a:xfrm>
            <a:off x="5494087" y="6147661"/>
            <a:ext cx="151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Ogamja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E52884-2DBF-53B0-AB87-666840ED62AC}"/>
              </a:ext>
            </a:extLst>
          </p:cNvPr>
          <p:cNvSpPr txBox="1"/>
          <p:nvPr/>
        </p:nvSpPr>
        <p:spPr>
          <a:xfrm>
            <a:off x="7453643" y="6134722"/>
            <a:ext cx="174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Pocachip_Onion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7EA9FF2-AD8E-BE6B-4705-499CB8CD27D7}"/>
              </a:ext>
            </a:extLst>
          </p:cNvPr>
          <p:cNvSpPr txBox="1"/>
          <p:nvPr/>
        </p:nvSpPr>
        <p:spPr>
          <a:xfrm>
            <a:off x="9714880" y="6145643"/>
            <a:ext cx="136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BananaKick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2945708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F28127-E33F-5FAC-1D6E-DA53DBD619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422688A-CFF8-8889-60F6-D5B9AE16FD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시연 영상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71F720A-6414-60B8-898B-5906FFCC577A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91463E43-7CBB-7774-4CF0-97B24676C4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1238" y="1825625"/>
            <a:ext cx="7991476" cy="4228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0660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8EFBD-410C-9421-FC7E-F3EE7D5FDA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975671-ADFA-F025-8C96-697CFBE97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01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소개</a:t>
            </a:r>
            <a:endParaRPr lang="ko-KR" altLang="en-US" sz="3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585CA5-DB43-CB26-4AF5-E072384973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3874" y="2221682"/>
            <a:ext cx="11353801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600" b="1" dirty="0"/>
              <a:t>무인 결제 시스템의 보급</a:t>
            </a:r>
            <a:endParaRPr lang="en-US" altLang="ko-KR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/>
              <a:t>최근 유통 업계 전반에서 셀프 계산대, 무인 편의점 등 </a:t>
            </a:r>
            <a:r>
              <a:rPr lang="ko-KR" altLang="ko-KR" sz="1600" dirty="0" err="1"/>
              <a:t>비대면</a:t>
            </a:r>
            <a:r>
              <a:rPr lang="ko-KR" altLang="ko-KR" sz="1600" dirty="0"/>
              <a:t> 결제 인프라가 급격히 확산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600" b="1" dirty="0"/>
              <a:t>핵심 기술: 컴퓨터 비전(Computer </a:t>
            </a:r>
            <a:r>
              <a:rPr lang="ko-KR" altLang="ko-KR" sz="1600" b="1" dirty="0" err="1"/>
              <a:t>Vision</a:t>
            </a:r>
            <a:r>
              <a:rPr lang="ko-KR" altLang="ko-KR" sz="1600" b="1" dirty="0"/>
              <a:t>)</a:t>
            </a:r>
            <a:endParaRPr lang="en-US" altLang="ko-KR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/>
              <a:t>무인 매장 환경에서 사람의 개입 없이 카메라가 물건을 자동으로 식별하고 분류하는 비전 기술이 시스템의 핵심 축을 담당</a:t>
            </a:r>
            <a:endParaRPr lang="ko-KR" altLang="en-US" sz="16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7D6FA756-FBB9-41FB-A284-81CC4BBFBC1B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1861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5085C-4D37-766A-FD8A-5646C17E2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2BC6D1-5A2F-0D0B-A07A-D78788F8F6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01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프로젝트 소개</a:t>
            </a:r>
            <a:endParaRPr lang="ko-KR" altLang="en-US" sz="3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5DF59A2-28D2-B62E-DA25-961E02677C5B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72BA34EB-102C-A493-9446-C8A09708229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949149"/>
            <a:ext cx="11096625" cy="2445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01 </a:t>
            </a:r>
            <a:r>
              <a:rPr lang="ko-KR" altLang="ko-KR" sz="1600" b="1" dirty="0"/>
              <a:t>색상별 </a:t>
            </a:r>
            <a:r>
              <a:rPr lang="ko-KR" altLang="ko-KR" sz="1600" b="1" dirty="0" err="1"/>
              <a:t>구별성</a:t>
            </a:r>
            <a:r>
              <a:rPr lang="ko-KR" altLang="ko-KR" sz="1600" b="1" dirty="0"/>
              <a:t>:</a:t>
            </a:r>
            <a:r>
              <a:rPr lang="ko-KR" altLang="ko-KR" sz="1600" dirty="0"/>
              <a:t> 유사한 색상(노란색/주황색 등)을 가진 과자들의 식별 능력</a:t>
            </a:r>
            <a:endParaRPr lang="en-US" altLang="ko-KR" sz="1600" dirty="0"/>
          </a:p>
          <a:p>
            <a:pPr marL="0" lvl="0" indent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02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세부 클래스 변별력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ko-KR" altLang="ko-KR" sz="1600" dirty="0" err="1"/>
              <a:t>포카칩</a:t>
            </a:r>
            <a:r>
              <a:rPr lang="ko-KR" altLang="ko-KR" sz="1600" dirty="0"/>
              <a:t> </a:t>
            </a:r>
            <a:r>
              <a:rPr lang="en-US" altLang="ko-KR" sz="1600" dirty="0"/>
              <a:t>‘</a:t>
            </a:r>
            <a:r>
              <a:rPr lang="ko-KR" altLang="ko-KR" sz="1600" dirty="0"/>
              <a:t>오리지널</a:t>
            </a:r>
            <a:r>
              <a:rPr lang="en-US" altLang="ko-KR" sz="1600" dirty="0"/>
              <a:t>’</a:t>
            </a:r>
            <a:r>
              <a:rPr lang="ko-KR" altLang="ko-KR" sz="1600" dirty="0"/>
              <a:t>과 </a:t>
            </a:r>
            <a:r>
              <a:rPr lang="en-US" altLang="ko-KR" sz="1600" dirty="0"/>
              <a:t>‘</a:t>
            </a:r>
            <a:r>
              <a:rPr lang="ko-KR" altLang="ko-KR" sz="1600" dirty="0" err="1"/>
              <a:t>어니언</a:t>
            </a:r>
            <a:r>
              <a:rPr lang="en-US" altLang="ko-KR" sz="1600" dirty="0"/>
              <a:t>’</a:t>
            </a:r>
            <a:r>
              <a:rPr lang="ko-KR" altLang="ko-KR" sz="1600" dirty="0"/>
              <a:t> 맛처럼 디자인이 거의 유사한 세부 맛 구별</a:t>
            </a:r>
            <a:endParaRPr lang="en-US" altLang="ko-KR" sz="1600" dirty="0"/>
          </a:p>
          <a:p>
            <a:pPr marL="0" lvl="0" indent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03 </a:t>
            </a:r>
            <a:r>
              <a:rPr lang="ko-KR" altLang="ko-KR" sz="1600" b="1" dirty="0"/>
              <a:t>밀집도 및 가림 현상:</a:t>
            </a:r>
            <a:r>
              <a:rPr lang="ko-KR" altLang="ko-KR" sz="1600" dirty="0"/>
              <a:t> 과자 개수를 1개</a:t>
            </a:r>
            <a:r>
              <a:rPr lang="en-US" altLang="ko-KR" sz="1600" dirty="0"/>
              <a:t> ~</a:t>
            </a:r>
            <a:r>
              <a:rPr lang="ko-KR" altLang="ko-KR" sz="1600" dirty="0"/>
              <a:t> </a:t>
            </a:r>
            <a:r>
              <a:rPr lang="en-US" altLang="ko-KR" sz="1600" dirty="0"/>
              <a:t>3</a:t>
            </a:r>
            <a:r>
              <a:rPr lang="ko-KR" altLang="ko-KR" sz="1600" dirty="0"/>
              <a:t>개까지 늘리며 겹쳐</a:t>
            </a:r>
            <a:r>
              <a:rPr lang="en-US" altLang="ko-KR" sz="1600" dirty="0"/>
              <a:t> </a:t>
            </a:r>
            <a:r>
              <a:rPr lang="ko-KR" altLang="ko-KR" sz="1600" dirty="0"/>
              <a:t>놓았을 때의 인식 변</a:t>
            </a:r>
            <a:r>
              <a:rPr lang="ko-KR" altLang="en-US" sz="1600" dirty="0"/>
              <a:t>화</a:t>
            </a:r>
            <a:endParaRPr lang="en-US" altLang="ko-KR" sz="1600" dirty="0"/>
          </a:p>
          <a:p>
            <a:pPr marL="0" lvl="0" indent="0" eaLnBrk="0" fontAlgn="base" latinLnBrk="0" hangingPunct="0">
              <a:lnSpc>
                <a:spcPct val="2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04 </a:t>
            </a:r>
            <a:r>
              <a:rPr lang="ko-KR" altLang="ko-KR" sz="1600" b="1" dirty="0"/>
              <a:t>광학 환경 변화:</a:t>
            </a:r>
            <a:r>
              <a:rPr lang="ko-KR" altLang="ko-KR" sz="1600" dirty="0"/>
              <a:t> </a:t>
            </a:r>
            <a:r>
              <a:rPr lang="ko-KR" altLang="en-US" sz="1600" dirty="0"/>
              <a:t>조명에 따른 </a:t>
            </a:r>
            <a:r>
              <a:rPr lang="ko-KR" altLang="ko-KR" sz="1600" dirty="0"/>
              <a:t>실시간 인식도 차이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267110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7DFBFD-620E-8189-9C36-6AD74992B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446628-9606-F648-9E45-A84C4732C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구조</a:t>
            </a:r>
            <a:endParaRPr lang="ko-KR" altLang="en-US" sz="3200" b="1" dirty="0">
              <a:solidFill>
                <a:schemeClr val="bg2">
                  <a:lumMod val="25000"/>
                </a:schemeClr>
              </a:solidFill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78F39C-6B76-19F8-99FC-DFDA78CBE5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2221682"/>
            <a:ext cx="4795838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600" b="1" dirty="0">
                <a:solidFill>
                  <a:schemeClr val="bg2">
                    <a:lumMod val="25000"/>
                  </a:schemeClr>
                </a:solidFill>
              </a:rPr>
              <a:t>데이터셋 구축 및 </a:t>
            </a:r>
            <a:r>
              <a:rPr lang="ko-KR" altLang="ko-KR" sz="1600" b="1" dirty="0" err="1">
                <a:solidFill>
                  <a:schemeClr val="bg2">
                    <a:lumMod val="25000"/>
                  </a:schemeClr>
                </a:solidFill>
              </a:rPr>
              <a:t>전처리</a:t>
            </a:r>
            <a:endParaRPr lang="en-US" altLang="ko-KR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 err="1"/>
              <a:t>Roboflow</a:t>
            </a:r>
            <a:r>
              <a:rPr lang="ko-KR" altLang="ko-KR" sz="1600" dirty="0"/>
              <a:t> 데이터 관리</a:t>
            </a:r>
            <a:r>
              <a:rPr lang="en-US" altLang="ko-KR" sz="1600" dirty="0">
                <a:solidFill>
                  <a:schemeClr val="bg2">
                    <a:lumMod val="25000"/>
                  </a:schemeClr>
                </a:solidFill>
              </a:rPr>
              <a:t>: </a:t>
            </a:r>
            <a:r>
              <a:rPr lang="ko-KR" altLang="ko-KR" sz="1600" dirty="0"/>
              <a:t>직접 촬영 및 수집한 스낵 이미지를 기반으로 총 2,041장의 고품질 데이터셋 </a:t>
            </a:r>
            <a:r>
              <a:rPr lang="ko-KR" altLang="en-US" sz="1600" dirty="0" err="1"/>
              <a:t>라벨</a:t>
            </a:r>
            <a:r>
              <a:rPr lang="ko-KR" altLang="ko-KR" sz="1600" dirty="0" err="1"/>
              <a:t>링</a:t>
            </a:r>
            <a:r>
              <a:rPr lang="ko-KR" altLang="ko-KR" sz="1600" dirty="0"/>
              <a:t> 및 </a:t>
            </a:r>
            <a:r>
              <a:rPr lang="ko-KR" altLang="en-US" sz="1600" dirty="0"/>
              <a:t>데이터 정제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2D39390-24D0-05F8-7950-E36822314D46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9F836AF1-E5B4-881F-663E-0AF865CEEB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461" y="1617807"/>
            <a:ext cx="5814750" cy="4647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30592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9FA78-5820-D0CF-8E1A-83FBF2A5C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5D6D9E-39F5-67F5-D83F-D0946FCE88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구조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153398-1AC0-D0F0-001B-C3C648029B0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600" b="1" dirty="0"/>
                  <a:t>전통적 비전 기반 데이터 증강</a:t>
                </a:r>
                <a:endParaRPr lang="en-US" altLang="ko-KR" sz="16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600" dirty="0"/>
                  <a:t>목적: 데이터셋의 한계 극복 및 모델의 일반화 성능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극대화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기하학적 변환: </a:t>
                </a:r>
                <a:r>
                  <a:rPr lang="ko-KR" altLang="ko-KR" sz="1600" dirty="0" err="1"/>
                  <a:t>Flip</a:t>
                </a:r>
                <a:r>
                  <a:rPr lang="ko-KR" altLang="ko-KR" sz="1600" dirty="0"/>
                  <a:t>(좌우 반전), </a:t>
                </a:r>
                <a:r>
                  <a:rPr lang="ko-KR" altLang="ko-KR" sz="1600" dirty="0" err="1"/>
                  <a:t>Rotation</a:t>
                </a:r>
                <a:r>
                  <a:rPr lang="ko-KR" altLang="ko-KR" sz="1600" dirty="0"/>
                  <a:t>(±15° 회전), </a:t>
                </a:r>
                <a:r>
                  <a:rPr lang="ko-KR" altLang="ko-KR" sz="1600" dirty="0" err="1"/>
                  <a:t>Crop</a:t>
                </a:r>
                <a:r>
                  <a:rPr lang="ko-KR" altLang="ko-KR" sz="1600" dirty="0"/>
                  <a:t>(부분 </a:t>
                </a:r>
                <a:r>
                  <a:rPr lang="ko-KR" altLang="ko-KR" sz="1600" dirty="0" err="1"/>
                  <a:t>크롭</a:t>
                </a:r>
                <a:r>
                  <a:rPr lang="ko-KR" altLang="ko-KR" sz="1600" dirty="0"/>
                  <a:t>)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ko-KR" sz="1600" dirty="0"/>
                  <a:t>이미지의 픽셀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)를 새로운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',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')로 옮기는 </a:t>
                </a:r>
                <a:r>
                  <a:rPr lang="ko-KR" altLang="ko-KR" sz="1600" b="1" dirty="0"/>
                  <a:t>공간 변환 행렬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연산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화소 제어</a:t>
                </a:r>
                <a:r>
                  <a:rPr lang="en-US" altLang="ko-KR" sz="1600" dirty="0"/>
                  <a:t>: </a:t>
                </a:r>
                <a:r>
                  <a:rPr lang="ko-KR" altLang="ko-KR" sz="1600" dirty="0" err="1"/>
                  <a:t>Brightness</a:t>
                </a:r>
                <a:r>
                  <a:rPr lang="ko-KR" altLang="ko-KR" sz="1600" dirty="0"/>
                  <a:t>(밝기), </a:t>
                </a:r>
                <a:r>
                  <a:rPr lang="ko-KR" altLang="ko-KR" sz="1600" dirty="0" err="1"/>
                  <a:t>Noise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노이즈</a:t>
                </a:r>
                <a:r>
                  <a:rPr lang="en-US" altLang="ko-KR" sz="1600" dirty="0"/>
                  <a:t>)</a:t>
                </a:r>
                <a:r>
                  <a:rPr lang="ko-KR" altLang="ko-KR" sz="1600" dirty="0"/>
                  <a:t> 및 </a:t>
                </a:r>
                <a:r>
                  <a:rPr lang="ko-KR" altLang="en-US" sz="1600" dirty="0"/>
                  <a:t>노출</a:t>
                </a:r>
                <a:r>
                  <a:rPr lang="ko-KR" altLang="ko-KR" sz="1600" dirty="0"/>
                  <a:t> 조절 통해 조명 변화에 대한 강인성 확보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en-US" sz="1600" dirty="0"/>
                  <a:t>위치는 그대로 두고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해당 픽셀의 밝기 값만 변화시킴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dirty="0"/>
                  <a:t>          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2000" dirty="0"/>
                  <a:t>   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3A153398-1AC0-D0F0-001B-C3C648029B0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  <a:blipFill>
                <a:blip r:embed="rId3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9F567A25-DB79-94DA-F1EF-4EC3F93C63A5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1C05BFDB-7380-C0F6-68D6-EB0111393139}"/>
              </a:ext>
            </a:extLst>
          </p:cNvPr>
          <p:cNvSpPr/>
          <p:nvPr/>
        </p:nvSpPr>
        <p:spPr>
          <a:xfrm>
            <a:off x="1039088" y="3393715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26699D74-1BBE-29E3-5559-08767940B5DD}"/>
              </a:ext>
            </a:extLst>
          </p:cNvPr>
          <p:cNvSpPr/>
          <p:nvPr/>
        </p:nvSpPr>
        <p:spPr>
          <a:xfrm>
            <a:off x="1039089" y="4459180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C246453E-B26B-4312-2130-8627AC97363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394" t="22487" r="35643" b="34980"/>
          <a:stretch>
            <a:fillRect/>
          </a:stretch>
        </p:blipFill>
        <p:spPr>
          <a:xfrm>
            <a:off x="8100854" y="393439"/>
            <a:ext cx="3461631" cy="2900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73270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A0EC60-7EEE-FB43-1142-C3A2DD02A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FEC941-3218-CDB5-DD94-8624FE1B6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구조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AB8569-90E2-1B57-C7D5-5036F4E3CE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800" b="1" dirty="0"/>
                  <a:t>전통적 비전 기반 데이터 증강</a:t>
                </a:r>
                <a:endParaRPr lang="en-US" altLang="ko-KR" sz="18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800" dirty="0"/>
                  <a:t>목적: </a:t>
                </a:r>
                <a:r>
                  <a:rPr lang="ko-KR" altLang="ko-KR" sz="1600" dirty="0"/>
                  <a:t>데이터셋의 한계 극복 및 모델의 일반화 성능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극대화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기하학적 변환: </a:t>
                </a:r>
                <a:r>
                  <a:rPr lang="ko-KR" altLang="ko-KR" sz="1600" dirty="0" err="1"/>
                  <a:t>Flip</a:t>
                </a:r>
                <a:r>
                  <a:rPr lang="ko-KR" altLang="ko-KR" sz="1600" dirty="0"/>
                  <a:t>(좌우 반전), </a:t>
                </a:r>
                <a:r>
                  <a:rPr lang="ko-KR" altLang="ko-KR" sz="1600" dirty="0" err="1"/>
                  <a:t>Rotation</a:t>
                </a:r>
                <a:r>
                  <a:rPr lang="ko-KR" altLang="ko-KR" sz="1600" dirty="0"/>
                  <a:t>(±15° 회전), </a:t>
                </a:r>
                <a:r>
                  <a:rPr lang="ko-KR" altLang="ko-KR" sz="1600" dirty="0" err="1"/>
                  <a:t>Crop</a:t>
                </a:r>
                <a:r>
                  <a:rPr lang="ko-KR" altLang="ko-KR" sz="1600" dirty="0"/>
                  <a:t>(부분 </a:t>
                </a:r>
                <a:r>
                  <a:rPr lang="ko-KR" altLang="ko-KR" sz="1600" dirty="0" err="1"/>
                  <a:t>크롭</a:t>
                </a:r>
                <a:r>
                  <a:rPr lang="ko-KR" altLang="ko-KR" sz="1600" dirty="0"/>
                  <a:t>)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ko-KR" sz="1600" dirty="0"/>
                  <a:t>이미지의 픽셀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)를 새로운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',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')로 옮기는 </a:t>
                </a:r>
                <a:r>
                  <a:rPr lang="ko-KR" altLang="ko-KR" sz="1600" b="1" dirty="0"/>
                  <a:t>공간 변환 행렬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연산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화소 제어</a:t>
                </a:r>
                <a:r>
                  <a:rPr lang="en-US" altLang="ko-KR" sz="1600" dirty="0"/>
                  <a:t>: </a:t>
                </a:r>
                <a:r>
                  <a:rPr lang="ko-KR" altLang="ko-KR" sz="1600" dirty="0" err="1"/>
                  <a:t>Brightness</a:t>
                </a:r>
                <a:r>
                  <a:rPr lang="ko-KR" altLang="ko-KR" sz="1600" dirty="0"/>
                  <a:t>(밝기), </a:t>
                </a:r>
                <a:r>
                  <a:rPr lang="ko-KR" altLang="ko-KR" sz="1600" dirty="0" err="1"/>
                  <a:t>Noise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노이즈</a:t>
                </a:r>
                <a:r>
                  <a:rPr lang="en-US" altLang="ko-KR" sz="1600" dirty="0"/>
                  <a:t>)</a:t>
                </a:r>
                <a:r>
                  <a:rPr lang="ko-KR" altLang="ko-KR" sz="1600" dirty="0"/>
                  <a:t> 및 </a:t>
                </a:r>
                <a:r>
                  <a:rPr lang="ko-KR" altLang="en-US" sz="1600" dirty="0"/>
                  <a:t>노출</a:t>
                </a:r>
                <a:r>
                  <a:rPr lang="ko-KR" altLang="ko-KR" sz="1600" dirty="0"/>
                  <a:t> 조절 통해 조명 변화에 대한 강인성 확보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en-US" sz="1600" dirty="0"/>
                  <a:t>위치는 그대로 두고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해당 픽셀의 밝기 값만 변화시킴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dirty="0"/>
                  <a:t>          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2000" dirty="0"/>
                  <a:t>  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1AB8569-90E2-1B57-C7D5-5036F4E3CE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  <a:blipFill>
                <a:blip r:embed="rId3"/>
                <a:stretch>
                  <a:fillRect l="-42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89A07585-2289-207A-D88B-FF14EDD5341E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ADB5546A-C7DB-0EE2-1BBC-F4473A976ED1}"/>
              </a:ext>
            </a:extLst>
          </p:cNvPr>
          <p:cNvSpPr/>
          <p:nvPr/>
        </p:nvSpPr>
        <p:spPr>
          <a:xfrm>
            <a:off x="1039089" y="3619718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D148A57D-AC37-E64E-9D75-77E9CF960C5D}"/>
              </a:ext>
            </a:extLst>
          </p:cNvPr>
          <p:cNvSpPr/>
          <p:nvPr/>
        </p:nvSpPr>
        <p:spPr>
          <a:xfrm>
            <a:off x="1039090" y="4759217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A59680-A461-9180-72E6-19BD526F9D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413" b="14781"/>
          <a:stretch>
            <a:fillRect/>
          </a:stretch>
        </p:blipFill>
        <p:spPr>
          <a:xfrm>
            <a:off x="6924472" y="1849013"/>
            <a:ext cx="4567644" cy="325065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5183627B-3542-093A-127A-A9785C9FC44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8681"/>
          <a:stretch>
            <a:fillRect/>
          </a:stretch>
        </p:blipFill>
        <p:spPr>
          <a:xfrm>
            <a:off x="699884" y="1877060"/>
            <a:ext cx="5233987" cy="310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0778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B0ABD-4DB1-A99C-620C-4F3948B8B0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7E307-5584-165A-D446-C8E88BE85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구조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39D7CE-42E1-32E3-3665-FC072D969F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endParaRPr lang="en-US" altLang="ko-KR" sz="20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600" b="1" dirty="0"/>
                  <a:t>전통적 비전 기반 데이터 증강</a:t>
                </a:r>
                <a:endParaRPr lang="en-US" altLang="ko-KR" sz="1600" b="1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ko-KR" altLang="ko-KR" sz="1600" dirty="0"/>
                  <a:t>목적: 데이터셋의 한계 극복 및 모델의 일반화 성능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극대화</a:t>
                </a: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기하학적 변환: </a:t>
                </a:r>
                <a:r>
                  <a:rPr lang="ko-KR" altLang="ko-KR" sz="1600" dirty="0" err="1"/>
                  <a:t>Flip</a:t>
                </a:r>
                <a:r>
                  <a:rPr lang="ko-KR" altLang="ko-KR" sz="1600" dirty="0"/>
                  <a:t>(좌우 반전), </a:t>
                </a:r>
                <a:r>
                  <a:rPr lang="ko-KR" altLang="ko-KR" sz="1600" dirty="0" err="1"/>
                  <a:t>Rotation</a:t>
                </a:r>
                <a:r>
                  <a:rPr lang="ko-KR" altLang="ko-KR" sz="1600" dirty="0"/>
                  <a:t>(±15° 회전), </a:t>
                </a:r>
                <a:r>
                  <a:rPr lang="ko-KR" altLang="ko-KR" sz="1600" dirty="0" err="1"/>
                  <a:t>Crop</a:t>
                </a:r>
                <a:r>
                  <a:rPr lang="ko-KR" altLang="ko-KR" sz="1600" dirty="0"/>
                  <a:t>(부분 </a:t>
                </a:r>
                <a:r>
                  <a:rPr lang="ko-KR" altLang="ko-KR" sz="1600" dirty="0" err="1"/>
                  <a:t>크롭</a:t>
                </a:r>
                <a:r>
                  <a:rPr lang="ko-KR" altLang="ko-KR" sz="1600" dirty="0"/>
                  <a:t>)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ko-KR" sz="1600" dirty="0"/>
                  <a:t>이미지의 픽셀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)를 새로운 위치 (</a:t>
                </a:r>
                <a:r>
                  <a:rPr lang="ko-KR" altLang="ko-KR" sz="1600" dirty="0" err="1"/>
                  <a:t>x</a:t>
                </a:r>
                <a:r>
                  <a:rPr lang="ko-KR" altLang="ko-KR" sz="1600" dirty="0"/>
                  <a:t>', </a:t>
                </a:r>
                <a:r>
                  <a:rPr lang="ko-KR" altLang="ko-KR" sz="1600" dirty="0" err="1"/>
                  <a:t>y</a:t>
                </a:r>
                <a:r>
                  <a:rPr lang="ko-KR" altLang="ko-KR" sz="1600" dirty="0"/>
                  <a:t>')로 옮기는 </a:t>
                </a:r>
                <a:r>
                  <a:rPr lang="ko-KR" altLang="ko-KR" sz="1600" b="1" dirty="0"/>
                  <a:t>공간 변환 행렬</a:t>
                </a:r>
                <a:r>
                  <a:rPr lang="en-US" altLang="ko-KR" sz="1600" dirty="0"/>
                  <a:t> </a:t>
                </a:r>
                <a:r>
                  <a:rPr lang="ko-KR" altLang="ko-KR" sz="1600" dirty="0"/>
                  <a:t>연산</a:t>
                </a:r>
                <a:r>
                  <a:rPr lang="en-US" altLang="ko-KR" sz="1600" dirty="0"/>
                  <a:t> </a:t>
                </a:r>
                <a:r>
                  <a:rPr lang="ko-KR" altLang="en-US" sz="1600" dirty="0"/>
                  <a:t>사용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- </a:t>
                </a:r>
                <a:r>
                  <a:rPr lang="ko-KR" altLang="ko-KR" sz="1600" dirty="0"/>
                  <a:t>화소 제어</a:t>
                </a:r>
                <a:r>
                  <a:rPr lang="en-US" altLang="ko-KR" sz="1600" dirty="0"/>
                  <a:t>: </a:t>
                </a:r>
                <a:r>
                  <a:rPr lang="ko-KR" altLang="ko-KR" sz="1600" dirty="0" err="1"/>
                  <a:t>Brightness</a:t>
                </a:r>
                <a:r>
                  <a:rPr lang="ko-KR" altLang="ko-KR" sz="1600" dirty="0"/>
                  <a:t>(밝기), </a:t>
                </a:r>
                <a:r>
                  <a:rPr lang="ko-KR" altLang="ko-KR" sz="1600" dirty="0" err="1"/>
                  <a:t>Noise</a:t>
                </a:r>
                <a:r>
                  <a:rPr lang="en-US" altLang="ko-KR" sz="1600" dirty="0"/>
                  <a:t>(</a:t>
                </a:r>
                <a:r>
                  <a:rPr lang="ko-KR" altLang="en-US" sz="1600" dirty="0"/>
                  <a:t>노이즈</a:t>
                </a:r>
                <a:r>
                  <a:rPr lang="en-US" altLang="ko-KR" sz="1600" dirty="0"/>
                  <a:t>)</a:t>
                </a:r>
                <a:r>
                  <a:rPr lang="ko-KR" altLang="ko-KR" sz="1600" dirty="0"/>
                  <a:t> 및 </a:t>
                </a:r>
                <a:r>
                  <a:rPr lang="ko-KR" altLang="en-US" sz="1600" dirty="0"/>
                  <a:t>노출</a:t>
                </a:r>
                <a:r>
                  <a:rPr lang="ko-KR" altLang="ko-KR" sz="1600" dirty="0"/>
                  <a:t> 조절 통해 조명 변화에 대한 강인성 확보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1600" dirty="0"/>
                  <a:t>          </a:t>
                </a:r>
                <a:r>
                  <a:rPr lang="ko-KR" altLang="en-US" sz="1600" dirty="0"/>
                  <a:t>위치는 그대로 두고</a:t>
                </a:r>
                <a:r>
                  <a:rPr lang="en-US" altLang="ko-KR" sz="1600" dirty="0"/>
                  <a:t>, </a:t>
                </a:r>
                <a:r>
                  <a:rPr lang="ko-KR" altLang="en-US" sz="1600" dirty="0"/>
                  <a:t>해당 픽셀의 밝기 값만 변화시킴</a:t>
                </a:r>
                <a:endParaRPr lang="en-US" altLang="ko-KR" sz="1600" dirty="0"/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ko-KR" sz="2000" dirty="0"/>
                  <a:t>            </a:t>
                </a:r>
                <a14:m>
                  <m:oMath xmlns:m="http://schemas.openxmlformats.org/officeDocument/2006/math"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sz="1800" i="1" dirty="0" err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 ∗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𝑔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) + </m:t>
                    </m:r>
                    <m:r>
                      <a:rPr lang="en-US" altLang="ko-KR" sz="1800" i="1" dirty="0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 lang="en-US" altLang="ko-KR" sz="1800" dirty="0"/>
              </a:p>
              <a:p>
                <a:pPr marL="0" indent="0">
                  <a:buNone/>
                </a:pPr>
                <a:r>
                  <a:rPr lang="ko-KR" altLang="en-US" sz="2000" dirty="0"/>
                  <a:t>   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39D7CE-42E1-32E3-3665-FC072D969F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62013" y="1480128"/>
                <a:ext cx="11458575" cy="5070043"/>
              </a:xfrm>
              <a:blipFill>
                <a:blip r:embed="rId3"/>
                <a:stretch>
                  <a:fillRect l="-26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FE71F3CA-A36E-56A1-79A4-08B2285E2336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화살표: 오른쪽 3">
            <a:extLst>
              <a:ext uri="{FF2B5EF4-FFF2-40B4-BE49-F238E27FC236}">
                <a16:creationId xmlns:a16="http://schemas.microsoft.com/office/drawing/2014/main" id="{7B355078-1223-13C7-80A7-E27BDA3B0A50}"/>
              </a:ext>
            </a:extLst>
          </p:cNvPr>
          <p:cNvSpPr/>
          <p:nvPr/>
        </p:nvSpPr>
        <p:spPr>
          <a:xfrm>
            <a:off x="1039089" y="3429000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화살표: 오른쪽 13">
            <a:extLst>
              <a:ext uri="{FF2B5EF4-FFF2-40B4-BE49-F238E27FC236}">
                <a16:creationId xmlns:a16="http://schemas.microsoft.com/office/drawing/2014/main" id="{E6F72B1D-EA5F-825C-D7D0-266775717FDE}"/>
              </a:ext>
            </a:extLst>
          </p:cNvPr>
          <p:cNvSpPr/>
          <p:nvPr/>
        </p:nvSpPr>
        <p:spPr>
          <a:xfrm>
            <a:off x="1039088" y="4416317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98351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02BC7-63FD-E3F6-7C23-9460C72025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251950-E7B5-CBA2-3B09-C6F52AC9A2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02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시스템 구조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717EC14-22C2-EF56-C535-3D8BDE10A0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3425" y="2155839"/>
            <a:ext cx="4238625" cy="3833813"/>
          </a:xfrm>
          <a:noFill/>
          <a:ln>
            <a:solidFill>
              <a:schemeClr val="bg1"/>
            </a:solidFill>
            <a:prstDash val="dash"/>
          </a:ln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ko-KR" sz="1600" b="1" dirty="0"/>
              <a:t>AI 모델 학습</a:t>
            </a:r>
            <a:endParaRPr lang="en-US" altLang="ko-KR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ko-KR" sz="1600" dirty="0"/>
              <a:t>객체 탐지 알고리즘인 YOLOv8 구조</a:t>
            </a:r>
            <a:endParaRPr lang="en-US" altLang="ko-KR" sz="1600" dirty="0"/>
          </a:p>
          <a:p>
            <a:pPr marL="0" indent="0">
              <a:lnSpc>
                <a:spcPct val="150000"/>
              </a:lnSpc>
              <a:buNone/>
            </a:pPr>
            <a:r>
              <a:rPr lang="ko-KR" altLang="en-US" sz="1600" dirty="0"/>
              <a:t>위 </a:t>
            </a:r>
            <a:r>
              <a:rPr lang="ko-KR" altLang="ko-KR" sz="1600" dirty="0"/>
              <a:t>기술을 활용하여 국내 유통 과자 24종의 실시간 탐지 파이프라인 구현</a:t>
            </a:r>
            <a:endParaRPr lang="ko-KR" altLang="en-US" sz="16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C5FE4389-3380-89F1-3E4F-3325172679B4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C0123EA6-2F11-9535-15A7-F5B3D6593E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5999649"/>
              </p:ext>
            </p:extLst>
          </p:nvPr>
        </p:nvGraphicFramePr>
        <p:xfrm>
          <a:off x="5265591" y="1992485"/>
          <a:ext cx="6192984" cy="416052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8246">
                  <a:extLst>
                    <a:ext uri="{9D8B030D-6E8A-4147-A177-3AD203B41FA5}">
                      <a16:colId xmlns:a16="http://schemas.microsoft.com/office/drawing/2014/main" val="2626228466"/>
                    </a:ext>
                  </a:extLst>
                </a:gridCol>
                <a:gridCol w="1548246">
                  <a:extLst>
                    <a:ext uri="{9D8B030D-6E8A-4147-A177-3AD203B41FA5}">
                      <a16:colId xmlns:a16="http://schemas.microsoft.com/office/drawing/2014/main" val="3790427114"/>
                    </a:ext>
                  </a:extLst>
                </a:gridCol>
                <a:gridCol w="1548246">
                  <a:extLst>
                    <a:ext uri="{9D8B030D-6E8A-4147-A177-3AD203B41FA5}">
                      <a16:colId xmlns:a16="http://schemas.microsoft.com/office/drawing/2014/main" val="2281899747"/>
                    </a:ext>
                  </a:extLst>
                </a:gridCol>
                <a:gridCol w="1548246">
                  <a:extLst>
                    <a:ext uri="{9D8B030D-6E8A-4147-A177-3AD203B41FA5}">
                      <a16:colId xmlns:a16="http://schemas.microsoft.com/office/drawing/2014/main" val="3234725948"/>
                    </a:ext>
                  </a:extLst>
                </a:gridCol>
              </a:tblGrid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클래스 이름</a:t>
                      </a:r>
                      <a:r>
                        <a:rPr lang="en-US" sz="1100" kern="100">
                          <a:effectLst/>
                        </a:rPr>
                        <a:t> (</a:t>
                      </a:r>
                      <a:r>
                        <a:rPr lang="ko-KR" sz="1100" kern="100">
                          <a:effectLst/>
                        </a:rPr>
                        <a:t>영어</a:t>
                      </a:r>
                      <a:r>
                        <a:rPr lang="en-US" sz="1100" kern="100">
                          <a:effectLst/>
                        </a:rPr>
                        <a:t>)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한글 과자 이름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클래스 이름</a:t>
                      </a:r>
                      <a:r>
                        <a:rPr lang="en-US" sz="1100" kern="100">
                          <a:effectLst/>
                        </a:rPr>
                        <a:t> (</a:t>
                      </a:r>
                      <a:r>
                        <a:rPr lang="ko-KR" sz="1100" kern="100">
                          <a:effectLst/>
                        </a:rPr>
                        <a:t>영어</a:t>
                      </a:r>
                      <a:r>
                        <a:rPr lang="en-US" sz="1100" kern="100">
                          <a:effectLst/>
                        </a:rPr>
                        <a:t>)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한글 과자 이름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76553186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Alsaeuchip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알새우칩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Kkulkkwabagi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꿀꽈배기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183163245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BananaKick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바나나킥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KokkalCorn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dirty="0" err="1">
                          <a:effectLst/>
                        </a:rPr>
                        <a:t>꼬깔콘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609102442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CaramelCornMaple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카라멜콘메이플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Koncho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콘초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941020323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>
                          <a:effectLst/>
                        </a:rPr>
                        <a:t>Cheetos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치토스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Matdongsan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맛동산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112608225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CornChips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콘칩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Ogamja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오감자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4134235567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Gamjakkang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감자깡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Pocachip_Onion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포카칩 어니언맛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61849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Jjanggu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짱구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Pocachip_Original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포카칩 오리지널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829054543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JollyPong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죠리퐁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Postick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포스틱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784890022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Kkobugchip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꼬북칩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Saeukkang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새우깡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167089151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Kkochgelang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꽃게랑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Sunchip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썬칩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096640378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Swingchip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스윙칩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Yangpaling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양파링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263994629"/>
                  </a:ext>
                </a:extLst>
              </a:tr>
              <a:tr h="300589"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 dirty="0" err="1">
                          <a:effectLst/>
                        </a:rPr>
                        <a:t>konchi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>
                          <a:effectLst/>
                        </a:rPr>
                        <a:t>콘치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en-US" sz="1100" kern="100">
                          <a:effectLst/>
                        </a:rPr>
                        <a:t>Backside</a:t>
                      </a:r>
                      <a:endParaRPr lang="ko-KR" sz="1100" kern="10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latinLnBrk="1">
                        <a:spcAft>
                          <a:spcPts val="800"/>
                        </a:spcAft>
                        <a:buNone/>
                      </a:pPr>
                      <a:r>
                        <a:rPr lang="ko-KR" sz="1100" kern="100" dirty="0">
                          <a:effectLst/>
                        </a:rPr>
                        <a:t>과자 봉지 뒷면</a:t>
                      </a:r>
                      <a:endParaRPr lang="ko-KR" sz="1100" kern="100" dirty="0"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Times New Roman" panose="02020603050405020304" pitchFamily="18" charset="0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4650580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52877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123D30-A50C-4621-664E-3C770D557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D17412-A722-6E08-5811-496559830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03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파이프라인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2D9CF6C-2C23-67BE-F9CF-CAF9308FABD4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5F99AAF9-9FAB-2EBE-28AA-3FDB82208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738" y="1603861"/>
            <a:ext cx="11458576" cy="44319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영상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스트림 수신 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OpenCV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/>
              <a:t> </a:t>
            </a:r>
            <a:r>
              <a:rPr lang="ko-KR" altLang="ko-KR" sz="1600" dirty="0" err="1"/>
              <a:t>웹캠</a:t>
            </a:r>
            <a:r>
              <a:rPr lang="ko-KR" altLang="ko-KR" sz="1600" dirty="0"/>
              <a:t> 인터페이스를 활성화하여 실시간 영상 데이터 수신</a:t>
            </a:r>
            <a:endParaRPr lang="en-US" altLang="ko-KR" sz="1600" dirty="0"/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/>
              <a:t> </a:t>
            </a:r>
            <a:r>
              <a:rPr lang="ko-KR" altLang="ko-KR" sz="1600" dirty="0"/>
              <a:t>입력된 아날로그 영상을 </a:t>
            </a:r>
            <a:r>
              <a:rPr lang="ko-KR" altLang="ko-KR" sz="1600" b="1" dirty="0"/>
              <a:t>BGR 디지털 행렬(</a:t>
            </a:r>
            <a:r>
              <a:rPr lang="ko-KR" altLang="ko-KR" sz="1600" b="1" dirty="0" err="1"/>
              <a:t>Matrix</a:t>
            </a:r>
            <a:r>
              <a:rPr lang="ko-KR" altLang="ko-KR" sz="1600" b="1" dirty="0"/>
              <a:t>)</a:t>
            </a:r>
            <a:r>
              <a:rPr lang="ko-KR" altLang="ko-KR" sz="1600" dirty="0"/>
              <a:t> 형태로 실시간 </a:t>
            </a:r>
            <a:r>
              <a:rPr lang="ko-KR" altLang="en-US" sz="1600" dirty="0"/>
              <a:t>변</a:t>
            </a:r>
            <a:r>
              <a:rPr lang="ko-KR" altLang="ko-KR" sz="1600" dirty="0"/>
              <a:t>환 및 메모리 적재</a:t>
            </a:r>
            <a:endParaRPr lang="en-US" altLang="ko-KR" sz="1600" dirty="0"/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추론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및 후처리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ko-KR" altLang="ko-KR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Inference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&amp; Post-Processing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endParaRPr kumimoji="0" lang="en-US" altLang="ko-KR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입력된 BGR 프레임을 가중치가 탑재된 YOLOv8 모델에 통과시켜 실시간 추론 수행</a:t>
            </a:r>
            <a:r>
              <a:rPr kumimoji="0" lang="en-US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ko-KR" sz="1600" dirty="0"/>
              <a:t> </a:t>
            </a:r>
            <a:r>
              <a:rPr lang="ko-KR" altLang="ko-KR" sz="1600" dirty="0"/>
              <a:t>중복 계산된 여러 개의 </a:t>
            </a:r>
            <a:r>
              <a:rPr lang="en-US" altLang="ko-KR" sz="1600" dirty="0"/>
              <a:t> </a:t>
            </a:r>
            <a:r>
              <a:rPr lang="ko-KR" altLang="ko-KR" sz="1600" dirty="0" err="1"/>
              <a:t>bounding</a:t>
            </a:r>
            <a:r>
              <a:rPr lang="ko-KR" altLang="ko-KR" sz="1600" dirty="0"/>
              <a:t> </a:t>
            </a:r>
            <a:r>
              <a:rPr lang="ko-KR" altLang="ko-KR" sz="1600" dirty="0" err="1"/>
              <a:t>box</a:t>
            </a:r>
            <a:r>
              <a:rPr lang="ko-KR" altLang="ko-KR" sz="1600" dirty="0"/>
              <a:t> 제거</a:t>
            </a:r>
            <a:endParaRPr kumimoji="0" lang="en-US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ko-KR" altLang="ko-KR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ko-KR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실시간 시각화 매핑 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(Visualization &amp; Mapping</a:t>
            </a:r>
            <a:r>
              <a:rPr lang="en-US" altLang="ko-KR" sz="1600" b="1" dirty="0"/>
              <a:t>)</a:t>
            </a:r>
          </a:p>
          <a:p>
            <a:pPr lv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탐지된 </a:t>
            </a:r>
            <a:r>
              <a:rPr kumimoji="0" lang="ko-KR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과자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영역에 </a:t>
            </a:r>
            <a:r>
              <a:rPr lang="ko-KR" altLang="en-US" sz="1600" dirty="0"/>
              <a:t>관심 영역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(ROI)을 그리고, 영어 클래스명을 직관적인 한글 매핑 및 </a:t>
            </a:r>
            <a:r>
              <a:rPr lang="ko-KR" altLang="ko-KR" sz="1600" dirty="0"/>
              <a:t>인식 정확도 수치</a:t>
            </a:r>
            <a:r>
              <a:rPr kumimoji="0" lang="ko-KR" altLang="ko-KR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와 함께 화면에 실시간 렌더링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ko-KR" altLang="ko-KR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6900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5B8AF-481A-3945-4828-7B7075B6AB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973BF3-FDA1-5BDC-2AEA-ABA803727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 인식 결과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0010D23-49D7-7621-C5DB-09EFD95E27E0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" name="그림 2">
            <a:extLst>
              <a:ext uri="{FF2B5EF4-FFF2-40B4-BE49-F238E27FC236}">
                <a16:creationId xmlns:a16="http://schemas.microsoft.com/office/drawing/2014/main" id="{654821AD-7D65-02CD-D931-47DCA90268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6813" t="18661"/>
          <a:stretch>
            <a:fillRect/>
          </a:stretch>
        </p:blipFill>
        <p:spPr>
          <a:xfrm>
            <a:off x="671827" y="4057686"/>
            <a:ext cx="1916256" cy="1966542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E044125B-1D58-A3CD-0274-B0B80D5411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44440" t="15155" r="6478"/>
          <a:stretch>
            <a:fillRect/>
          </a:stretch>
        </p:blipFill>
        <p:spPr>
          <a:xfrm>
            <a:off x="7195613" y="4057686"/>
            <a:ext cx="1890953" cy="19552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C45AE26C-97EF-1C4C-6DA9-6170FB52014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1541" t="10381" r="6609"/>
          <a:stretch>
            <a:fillRect/>
          </a:stretch>
        </p:blipFill>
        <p:spPr>
          <a:xfrm>
            <a:off x="674799" y="1530101"/>
            <a:ext cx="1916256" cy="196708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216D8121-A716-CE69-108F-D07836FC8A8E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36463" t="13590" r="11687"/>
          <a:stretch>
            <a:fillRect/>
          </a:stretch>
        </p:blipFill>
        <p:spPr>
          <a:xfrm>
            <a:off x="2832024" y="1522971"/>
            <a:ext cx="1943355" cy="1974215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126F26FD-E686-68AB-45E5-5EBA714DDF1E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7342" t="12283" r="2621" b="3632"/>
          <a:stretch>
            <a:fillRect/>
          </a:stretch>
        </p:blipFill>
        <p:spPr>
          <a:xfrm>
            <a:off x="5016348" y="1530644"/>
            <a:ext cx="1908226" cy="19665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1C867458-1660-8F51-5C43-8AA4C34A281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47632" t="9956" r="1831"/>
          <a:stretch>
            <a:fillRect/>
          </a:stretch>
        </p:blipFill>
        <p:spPr>
          <a:xfrm>
            <a:off x="7165543" y="1504024"/>
            <a:ext cx="1890953" cy="1993162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EBB383F-1501-2347-5FA2-30555A08839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41541" t="16428" r="6632"/>
          <a:stretch>
            <a:fillRect/>
          </a:stretch>
        </p:blipFill>
        <p:spPr>
          <a:xfrm>
            <a:off x="5023353" y="4057686"/>
            <a:ext cx="1924286" cy="1966542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0C6D31FE-A4A8-25E5-E49E-73D8BCA9AAC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44984" t="12837" r="2441"/>
          <a:stretch>
            <a:fillRect/>
          </a:stretch>
        </p:blipFill>
        <p:spPr>
          <a:xfrm>
            <a:off x="9317725" y="4057686"/>
            <a:ext cx="1895996" cy="1955250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1CF033B-3C0C-96C5-71D1-BA7CAAC5DE7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56399" t="9728" b="6116"/>
          <a:stretch>
            <a:fillRect/>
          </a:stretch>
        </p:blipFill>
        <p:spPr>
          <a:xfrm>
            <a:off x="9297465" y="1504024"/>
            <a:ext cx="1916256" cy="195525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6CD4AF5C-854B-430A-3765-3E5EF52956C7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44703" t="21447" r="10493"/>
          <a:stretch>
            <a:fillRect/>
          </a:stretch>
        </p:blipFill>
        <p:spPr>
          <a:xfrm>
            <a:off x="2859123" y="4057686"/>
            <a:ext cx="1916256" cy="1966543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8488E018-F4ED-72ED-999B-81B555F4AB20}"/>
              </a:ext>
            </a:extLst>
          </p:cNvPr>
          <p:cNvSpPr txBox="1"/>
          <p:nvPr/>
        </p:nvSpPr>
        <p:spPr>
          <a:xfrm>
            <a:off x="1026741" y="3607987"/>
            <a:ext cx="183238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Yangpaling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B32A9E1-E405-D4C3-E4C5-92169F720CBB}"/>
              </a:ext>
            </a:extLst>
          </p:cNvPr>
          <p:cNvSpPr txBox="1"/>
          <p:nvPr/>
        </p:nvSpPr>
        <p:spPr>
          <a:xfrm>
            <a:off x="3293918" y="3607986"/>
            <a:ext cx="134042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CornChis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E380B4E-EBEE-D698-063F-681741CA0A7D}"/>
              </a:ext>
            </a:extLst>
          </p:cNvPr>
          <p:cNvSpPr txBox="1"/>
          <p:nvPr/>
        </p:nvSpPr>
        <p:spPr>
          <a:xfrm>
            <a:off x="5456111" y="36186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Postick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22762E6-C91F-7A4F-9471-4F5D91EC4833}"/>
              </a:ext>
            </a:extLst>
          </p:cNvPr>
          <p:cNvSpPr txBox="1"/>
          <p:nvPr/>
        </p:nvSpPr>
        <p:spPr>
          <a:xfrm>
            <a:off x="7557655" y="3607985"/>
            <a:ext cx="15586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JollyPong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225ED52-E482-D8F7-463E-76D41A84CA8F}"/>
              </a:ext>
            </a:extLst>
          </p:cNvPr>
          <p:cNvSpPr txBox="1"/>
          <p:nvPr/>
        </p:nvSpPr>
        <p:spPr>
          <a:xfrm>
            <a:off x="9714880" y="3607984"/>
            <a:ext cx="15940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Kkobugchip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18CD509-3BFB-CA6B-7D58-5D721679A6BC}"/>
              </a:ext>
            </a:extLst>
          </p:cNvPr>
          <p:cNvSpPr txBox="1"/>
          <p:nvPr/>
        </p:nvSpPr>
        <p:spPr>
          <a:xfrm>
            <a:off x="868889" y="6139655"/>
            <a:ext cx="180232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Pocachip_Original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8BC1A1B-CC17-A646-C26B-14966600AAB3}"/>
              </a:ext>
            </a:extLst>
          </p:cNvPr>
          <p:cNvSpPr txBox="1"/>
          <p:nvPr/>
        </p:nvSpPr>
        <p:spPr>
          <a:xfrm>
            <a:off x="3403126" y="6139654"/>
            <a:ext cx="13352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Jianggu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5D6A04B-09ED-7851-2E66-19A56B2061BA}"/>
              </a:ext>
            </a:extLst>
          </p:cNvPr>
          <p:cNvSpPr txBox="1"/>
          <p:nvPr/>
        </p:nvSpPr>
        <p:spPr>
          <a:xfrm>
            <a:off x="5437590" y="6145643"/>
            <a:ext cx="151091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Ogamja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579A1ED-79B1-4440-6EAA-D307E3065D46}"/>
              </a:ext>
            </a:extLst>
          </p:cNvPr>
          <p:cNvSpPr txBox="1"/>
          <p:nvPr/>
        </p:nvSpPr>
        <p:spPr>
          <a:xfrm>
            <a:off x="7453643" y="6134722"/>
            <a:ext cx="174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Pocachip_Onion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D6EEA8A-46DE-58B1-BE92-118156AE4236}"/>
              </a:ext>
            </a:extLst>
          </p:cNvPr>
          <p:cNvSpPr txBox="1"/>
          <p:nvPr/>
        </p:nvSpPr>
        <p:spPr>
          <a:xfrm>
            <a:off x="9714880" y="6145643"/>
            <a:ext cx="13686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/>
              <a:t>&lt;</a:t>
            </a:r>
            <a:r>
              <a:rPr lang="en-US" altLang="ko-KR" sz="1200" dirty="0" err="1"/>
              <a:t>BananaKick</a:t>
            </a:r>
            <a:r>
              <a:rPr lang="en-US" altLang="ko-KR" sz="1200" dirty="0"/>
              <a:t>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7289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C3936-A2EF-669E-09D9-D446A648E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4ECC898-04F9-5662-B85B-DC6B713453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 인식 결과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D47958AC-1DA6-B7D6-95D8-2893B8530D87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4ACE80AC-C407-A414-7209-4786623A3E6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627954"/>
            <a:ext cx="11096625" cy="50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01 </a:t>
            </a:r>
            <a:r>
              <a:rPr lang="ko-KR" altLang="ko-KR" sz="1600" b="1" dirty="0"/>
              <a:t>색상별 </a:t>
            </a:r>
            <a:r>
              <a:rPr lang="ko-KR" altLang="ko-KR" sz="1600" b="1" dirty="0" err="1"/>
              <a:t>구별성</a:t>
            </a:r>
            <a:r>
              <a:rPr lang="ko-KR" altLang="ko-KR" sz="1600" b="1" dirty="0"/>
              <a:t>:</a:t>
            </a:r>
            <a:r>
              <a:rPr lang="ko-KR" altLang="ko-KR" sz="1600" dirty="0"/>
              <a:t> 유사한 색상을 가진 과자들의 식별 능력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2946AA7-35D1-E72A-0053-1CC99AB5DB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445"/>
          <a:stretch>
            <a:fillRect/>
          </a:stretch>
        </p:blipFill>
        <p:spPr>
          <a:xfrm>
            <a:off x="6281737" y="2613925"/>
            <a:ext cx="5236212" cy="3119355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B547013-D031-2CC1-D16D-D3F7E0A63E4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1703"/>
          <a:stretch>
            <a:fillRect/>
          </a:stretch>
        </p:blipFill>
        <p:spPr>
          <a:xfrm>
            <a:off x="637219" y="2613925"/>
            <a:ext cx="5236211" cy="311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51073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00E8D7-D2AA-D789-6F1E-110BD40F7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1F7F77-794B-3A73-1914-2C4E58E1BF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 인식 결과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2030761B-27FB-6636-763D-AFD98D90607E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BF93CCE9-0A14-FCEE-4F8D-A9A347EB2F7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513654"/>
            <a:ext cx="11096625" cy="5063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03 </a:t>
            </a:r>
            <a:r>
              <a:rPr lang="ko-KR" altLang="ko-KR" sz="1600" b="1" dirty="0"/>
              <a:t>밀집도 및 가림 현상:</a:t>
            </a:r>
            <a:r>
              <a:rPr lang="ko-KR" altLang="ko-KR" sz="1600" dirty="0"/>
              <a:t> 과자 개수를 늘리며 겹쳐</a:t>
            </a:r>
            <a:r>
              <a:rPr lang="en-US" altLang="ko-KR" sz="1600" dirty="0"/>
              <a:t> </a:t>
            </a:r>
            <a:r>
              <a:rPr lang="ko-KR" altLang="ko-KR" sz="1600" dirty="0"/>
              <a:t>놓았을 때의 인식 변</a:t>
            </a:r>
            <a:r>
              <a:rPr lang="ko-KR" altLang="en-US" sz="1600" dirty="0"/>
              <a:t>화</a:t>
            </a:r>
            <a:endParaRPr lang="en-US" altLang="ko-KR" sz="16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8EB2CF1-34E5-C984-59EF-7C0EF82452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1737" y="2457504"/>
            <a:ext cx="5496643" cy="3275775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C1224EAB-7988-4A65-AD07-05387FB881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237" y="2450280"/>
            <a:ext cx="5449572" cy="3282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4412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37D634-5FD8-63C5-C53F-7BAFA7C017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5FCDB20-68FA-9274-8766-65FD56C30B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 인식 결과 및 한계점</a:t>
            </a:r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6745E64C-5B6D-F627-D1D8-C2905DB502F6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1">
            <a:extLst>
              <a:ext uri="{FF2B5EF4-FFF2-40B4-BE49-F238E27FC236}">
                <a16:creationId xmlns:a16="http://schemas.microsoft.com/office/drawing/2014/main" id="{31190CC5-3320-099E-068C-EBDE4B7A66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3425" y="1512302"/>
            <a:ext cx="11096625" cy="998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2">
                    <a:lumMod val="25000"/>
                    <a:lumOff val="75000"/>
                  </a:schemeClr>
                </a:solidFill>
                <a:effectLst/>
              </a:rPr>
              <a:t>02 </a:t>
            </a:r>
            <a:r>
              <a:rPr kumimoji="0" lang="ko-KR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세부 클래스 변별력</a:t>
            </a:r>
            <a:r>
              <a:rPr kumimoji="0" lang="en-US" altLang="ko-KR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r>
              <a:rPr lang="ko-KR" altLang="ko-KR" sz="1600" dirty="0" err="1"/>
              <a:t>포카칩</a:t>
            </a:r>
            <a:r>
              <a:rPr lang="ko-KR" altLang="ko-KR" sz="1600" dirty="0"/>
              <a:t> </a:t>
            </a:r>
            <a:r>
              <a:rPr lang="en-US" altLang="ko-KR" sz="1600" dirty="0"/>
              <a:t>‘</a:t>
            </a:r>
            <a:r>
              <a:rPr lang="ko-KR" altLang="ko-KR" sz="1600" dirty="0"/>
              <a:t>오리지널</a:t>
            </a:r>
            <a:r>
              <a:rPr lang="en-US" altLang="ko-KR" sz="1600" dirty="0"/>
              <a:t>’</a:t>
            </a:r>
            <a:r>
              <a:rPr lang="ko-KR" altLang="ko-KR" sz="1600" dirty="0"/>
              <a:t>과 </a:t>
            </a:r>
            <a:r>
              <a:rPr lang="en-US" altLang="ko-KR" sz="1600" dirty="0"/>
              <a:t>‘</a:t>
            </a:r>
            <a:r>
              <a:rPr lang="ko-KR" altLang="ko-KR" sz="1600" dirty="0" err="1"/>
              <a:t>어니언</a:t>
            </a:r>
            <a:r>
              <a:rPr lang="en-US" altLang="ko-KR" sz="1600" dirty="0"/>
              <a:t>’</a:t>
            </a:r>
            <a:r>
              <a:rPr lang="ko-KR" altLang="ko-KR" sz="1600" dirty="0"/>
              <a:t> 맛처럼 디자인이 거의 유사한 세부 맛 구별</a:t>
            </a:r>
            <a:endParaRPr lang="en-US" altLang="ko-KR" sz="1600" dirty="0"/>
          </a:p>
          <a:p>
            <a:pPr mar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b="1" dirty="0">
                <a:solidFill>
                  <a:schemeClr val="tx2">
                    <a:lumMod val="25000"/>
                    <a:lumOff val="75000"/>
                  </a:schemeClr>
                </a:solidFill>
              </a:rPr>
              <a:t>04 </a:t>
            </a:r>
            <a:r>
              <a:rPr lang="ko-KR" altLang="ko-KR" sz="1600" b="1" dirty="0"/>
              <a:t>광학 환경 변화:</a:t>
            </a:r>
            <a:r>
              <a:rPr lang="ko-KR" altLang="ko-KR" sz="1600" dirty="0"/>
              <a:t> </a:t>
            </a:r>
            <a:r>
              <a:rPr lang="ko-KR" altLang="en-US" sz="1600" dirty="0"/>
              <a:t>조명에 따른 </a:t>
            </a:r>
            <a:r>
              <a:rPr lang="ko-KR" altLang="ko-KR" sz="1600" dirty="0"/>
              <a:t>실시간 인식도 차이</a:t>
            </a:r>
            <a:endParaRPr lang="en-US" altLang="ko-KR" sz="16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FB5F451-E24F-06EF-9D1E-AF6CCCF36F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265" y="2701163"/>
            <a:ext cx="5279071" cy="303211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8964F88-80F0-0B64-4890-D55249FEDF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1225" y="2701163"/>
            <a:ext cx="5731510" cy="304101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E2946D4-DEA4-5886-06D2-095E8FF93438}"/>
              </a:ext>
            </a:extLst>
          </p:cNvPr>
          <p:cNvSpPr txBox="1"/>
          <p:nvPr/>
        </p:nvSpPr>
        <p:spPr>
          <a:xfrm>
            <a:off x="2665888" y="5923343"/>
            <a:ext cx="177165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500" dirty="0"/>
              <a:t>&lt;</a:t>
            </a:r>
            <a:r>
              <a:rPr lang="ko-KR" altLang="en-US" sz="1500" dirty="0"/>
              <a:t>조명 </a:t>
            </a:r>
            <a:r>
              <a:rPr lang="en-US" altLang="ko-KR" sz="1500" dirty="0"/>
              <a:t>OFF&gt;</a:t>
            </a:r>
            <a:endParaRPr lang="ko-KR" altLang="en-US" sz="1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E7BAA58-107D-ECD1-EC1B-DD7C67E6084E}"/>
              </a:ext>
            </a:extLst>
          </p:cNvPr>
          <p:cNvSpPr txBox="1"/>
          <p:nvPr/>
        </p:nvSpPr>
        <p:spPr>
          <a:xfrm>
            <a:off x="8195072" y="5923344"/>
            <a:ext cx="6107906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500" dirty="0"/>
              <a:t>&lt;</a:t>
            </a:r>
            <a:r>
              <a:rPr lang="ko-KR" altLang="en-US" sz="1500" dirty="0"/>
              <a:t>조명 </a:t>
            </a:r>
            <a:r>
              <a:rPr lang="en-US" altLang="ko-KR" sz="1500" dirty="0"/>
              <a:t>ON&gt;</a:t>
            </a:r>
            <a:endParaRPr lang="ko-KR" altLang="en-US" sz="1500" dirty="0"/>
          </a:p>
        </p:txBody>
      </p:sp>
    </p:spTree>
    <p:extLst>
      <p:ext uri="{BB962C8B-B14F-4D97-AF65-F5344CB8AC3E}">
        <p14:creationId xmlns:p14="http://schemas.microsoft.com/office/powerpoint/2010/main" val="18602715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21032-C18F-C7B0-E156-F697BA822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57C9A885-2587-3F02-7296-4C9A688E608C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7" name="그림 6">
            <a:extLst>
              <a:ext uri="{FF2B5EF4-FFF2-40B4-BE49-F238E27FC236}">
                <a16:creationId xmlns:a16="http://schemas.microsoft.com/office/drawing/2014/main" id="{1C633FBD-6B25-88FF-F2F3-3B1B3C8F1907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136" y="962118"/>
            <a:ext cx="2680855" cy="2680855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373BE52-D238-690A-8BDC-8E4AF1D053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과자인식 결과 및 한계점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73053B-9BB3-F8DE-EA9B-BC222481FB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912" y="2810232"/>
            <a:ext cx="11096625" cy="23026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2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Q.</a:t>
            </a:r>
            <a:r>
              <a:rPr lang="ko-KR" altLang="en-US" sz="2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ko-KR" sz="23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불을 켰는데 왜 도리어 인식이 무너졌을까?</a:t>
            </a:r>
            <a:endParaRPr lang="en-US" altLang="ko-KR" sz="2300" b="1" dirty="0">
              <a:solidFill>
                <a:schemeClr val="tx2">
                  <a:lumMod val="75000"/>
                  <a:lumOff val="25000"/>
                </a:schemeClr>
              </a:solidFill>
            </a:endParaRPr>
          </a:p>
          <a:p>
            <a:pPr marL="0" lv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dirty="0"/>
              <a:t>  </a:t>
            </a:r>
            <a:r>
              <a:rPr lang="ko-KR" altLang="ko-KR" sz="1600" dirty="0"/>
              <a:t>과자 봉지는 비닐이기 때문에 </a:t>
            </a:r>
            <a:r>
              <a:rPr lang="ko-KR" altLang="en-US" sz="1600" dirty="0"/>
              <a:t>조명을 켜면</a:t>
            </a:r>
            <a:r>
              <a:rPr lang="ko-KR" altLang="ko-KR" sz="1600" dirty="0"/>
              <a:t> 특정 각도에서 </a:t>
            </a:r>
            <a:r>
              <a:rPr lang="ko-KR" altLang="en-US" sz="1600" dirty="0"/>
              <a:t>빛이 </a:t>
            </a:r>
            <a:r>
              <a:rPr lang="ko-KR" altLang="ko-KR" sz="1600" dirty="0"/>
              <a:t>거울처럼 반사되는 </a:t>
            </a:r>
            <a:r>
              <a:rPr lang="en-US" altLang="ko-KR" sz="1600" dirty="0"/>
              <a:t>‘</a:t>
            </a:r>
            <a:r>
              <a:rPr lang="ko-KR" altLang="ko-KR" sz="1600" b="1" dirty="0"/>
              <a:t>정반사 현상</a:t>
            </a:r>
            <a:r>
              <a:rPr lang="en-US" altLang="ko-KR" sz="1600" b="1" dirty="0"/>
              <a:t>’</a:t>
            </a:r>
            <a:r>
              <a:rPr lang="ko-KR" altLang="ko-KR" sz="1600" dirty="0"/>
              <a:t> 발생 </a:t>
            </a:r>
            <a:endParaRPr lang="en-US" altLang="ko-KR" sz="1600" dirty="0"/>
          </a:p>
          <a:p>
            <a:pPr marL="0" lv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ko-KR" sz="1600" dirty="0"/>
              <a:t>          </a:t>
            </a:r>
            <a:r>
              <a:rPr lang="ko-KR" altLang="ko-KR" sz="1600" dirty="0"/>
              <a:t>해당 구역의 </a:t>
            </a:r>
            <a:r>
              <a:rPr lang="ko-KR" altLang="ko-KR" sz="1600" dirty="0" err="1"/>
              <a:t>픽셀값이</a:t>
            </a:r>
            <a:r>
              <a:rPr lang="ko-KR" altLang="ko-KR" sz="1600" dirty="0"/>
              <a:t> 최대치(255, </a:t>
            </a:r>
            <a:r>
              <a:rPr lang="ko-KR" altLang="ko-KR" sz="1600" dirty="0" err="1"/>
              <a:t>Pure</a:t>
            </a:r>
            <a:r>
              <a:rPr lang="ko-KR" altLang="ko-KR" sz="1600" dirty="0"/>
              <a:t> </a:t>
            </a:r>
            <a:r>
              <a:rPr lang="ko-KR" altLang="ko-KR" sz="1600" dirty="0" err="1"/>
              <a:t>White</a:t>
            </a:r>
            <a:r>
              <a:rPr lang="ko-KR" altLang="ko-KR" sz="1600" dirty="0"/>
              <a:t>)로 포화</a:t>
            </a:r>
            <a:endParaRPr lang="en-US" altLang="ko-KR" sz="1600" dirty="0"/>
          </a:p>
          <a:p>
            <a:pPr marL="0" lvl="0" indent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n-US" altLang="ko-KR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B271C4C-3376-8CC8-9DEA-AB7D4D859408}"/>
              </a:ext>
            </a:extLst>
          </p:cNvPr>
          <p:cNvSpPr txBox="1"/>
          <p:nvPr/>
        </p:nvSpPr>
        <p:spPr>
          <a:xfrm>
            <a:off x="547687" y="1580491"/>
            <a:ext cx="11096626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/>
              <a:t>YOLOv8 같은 객체 탐지 모델은 로고의 세부적인 </a:t>
            </a:r>
            <a:r>
              <a:rPr lang="ko-KR" altLang="en-US" sz="1600" dirty="0" err="1"/>
              <a:t>에지와</a:t>
            </a:r>
            <a:r>
              <a:rPr lang="ko-KR" altLang="ko-KR" sz="1600" dirty="0"/>
              <a:t> 질</a:t>
            </a:r>
            <a:r>
              <a:rPr lang="ko-KR" altLang="en-US" sz="1600" dirty="0"/>
              <a:t>감</a:t>
            </a:r>
            <a:r>
              <a:rPr lang="ko-KR" altLang="ko-KR" sz="1600" dirty="0"/>
              <a:t>, 그리고 미세한 색상 변화 패턴을 조합하여 클래스를 분류</a:t>
            </a:r>
            <a:r>
              <a:rPr lang="ko-KR" altLang="en-US" sz="1600" dirty="0"/>
              <a:t>하는데</a:t>
            </a:r>
            <a:r>
              <a:rPr lang="en-US" altLang="ko-KR" sz="1600" dirty="0"/>
              <a:t>, </a:t>
            </a:r>
            <a:r>
              <a:rPr lang="ko-KR" altLang="ko-KR" sz="1600" dirty="0"/>
              <a:t>불을 켰을 때는 로고 핵심 부위의 고주파 피처가 빛 번짐 속에 파묻혀 오인식</a:t>
            </a:r>
            <a:r>
              <a:rPr lang="en-US" altLang="ko-KR" sz="1600" dirty="0"/>
              <a:t> </a:t>
            </a:r>
            <a:r>
              <a:rPr lang="ko-KR" altLang="en-US" sz="1600" dirty="0"/>
              <a:t>발생</a:t>
            </a:r>
            <a:endParaRPr lang="en-US" altLang="ko-KR" sz="1600" dirty="0"/>
          </a:p>
        </p:txBody>
      </p:sp>
      <p:sp>
        <p:nvSpPr>
          <p:cNvPr id="3" name="화살표: 오른쪽 2">
            <a:extLst>
              <a:ext uri="{FF2B5EF4-FFF2-40B4-BE49-F238E27FC236}">
                <a16:creationId xmlns:a16="http://schemas.microsoft.com/office/drawing/2014/main" id="{344DDA0D-39AE-C15C-A340-F776D17917DE}"/>
              </a:ext>
            </a:extLst>
          </p:cNvPr>
          <p:cNvSpPr/>
          <p:nvPr/>
        </p:nvSpPr>
        <p:spPr>
          <a:xfrm>
            <a:off x="665885" y="4213846"/>
            <a:ext cx="446809" cy="290945"/>
          </a:xfrm>
          <a:prstGeom prst="rightArrow">
            <a:avLst/>
          </a:pr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18CC3E-3E11-652E-872B-CE06C2219883}"/>
              </a:ext>
            </a:extLst>
          </p:cNvPr>
          <p:cNvSpPr txBox="1"/>
          <p:nvPr/>
        </p:nvSpPr>
        <p:spPr>
          <a:xfrm>
            <a:off x="547687" y="5050363"/>
            <a:ext cx="11096626" cy="4140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ko-KR" sz="1600" dirty="0"/>
              <a:t>결과적으로 무조건 밝은 환경보다, 빛 반사가 제어된 균일한 광학 환경을 구축하는 것이 성능에 더 중요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406108722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128308-1807-DF3A-0F51-497ED498FC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F85F327-6BCD-7B1A-9006-D5078B385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775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ko-KR" sz="3500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04</a:t>
            </a:r>
            <a:r>
              <a:rPr lang="en-US" altLang="ko-KR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ko-KR" altLang="en-US" sz="3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과자 인식 결과 및 한계점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4338410-19C6-0E54-CC55-8B3D508257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4368" y="1381944"/>
            <a:ext cx="10863263" cy="435133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ko-KR" altLang="en-US" sz="1600" b="1" dirty="0"/>
              <a:t>포착된 한계점</a:t>
            </a:r>
            <a:endParaRPr lang="en-US" altLang="ko-KR" sz="1600" b="1" dirty="0"/>
          </a:p>
          <a:p>
            <a:pPr marL="0" indent="0">
              <a:lnSpc>
                <a:spcPct val="150000"/>
              </a:lnSpc>
              <a:buNone/>
            </a:pPr>
            <a:r>
              <a:rPr lang="en-US" altLang="ko-KR" sz="1600" b="1" dirty="0"/>
              <a:t>-  </a:t>
            </a:r>
            <a:r>
              <a:rPr lang="ko-KR" altLang="en-US" sz="1600" dirty="0"/>
              <a:t>폐쇄 문제</a:t>
            </a:r>
            <a:r>
              <a:rPr lang="en-US" altLang="ko-KR" sz="1600" dirty="0"/>
              <a:t>: </a:t>
            </a:r>
            <a:r>
              <a:rPr lang="ko-KR" altLang="en-US" sz="1600" dirty="0"/>
              <a:t>여러 개의 과자가 다중 중첩 시 기하학적 정보 소실</a:t>
            </a:r>
            <a:endParaRPr lang="en-US" altLang="ko-KR" sz="16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정반사 문제</a:t>
            </a:r>
            <a:r>
              <a:rPr lang="en-US" altLang="ko-KR" sz="1600" dirty="0"/>
              <a:t>: </a:t>
            </a:r>
            <a:r>
              <a:rPr lang="ko-KR" altLang="en-US" sz="1600" dirty="0"/>
              <a:t>비닐 재질에 의한 광학 노이즈</a:t>
            </a:r>
            <a:endParaRPr lang="en-US" altLang="ko-KR" sz="1600" dirty="0"/>
          </a:p>
          <a:p>
            <a:pPr>
              <a:lnSpc>
                <a:spcPct val="150000"/>
              </a:lnSpc>
              <a:buFontTx/>
              <a:buChar char="-"/>
            </a:pPr>
            <a:r>
              <a:rPr lang="ko-KR" altLang="en-US" sz="1600" dirty="0"/>
              <a:t>유사한 배경 색상의 오인식 문제</a:t>
            </a:r>
            <a:r>
              <a:rPr lang="en-US" altLang="ko-KR" sz="1600" dirty="0"/>
              <a:t>:</a:t>
            </a:r>
            <a:r>
              <a:rPr lang="ko-KR" altLang="en-US" sz="1600" dirty="0"/>
              <a:t> 색상 유사성에 따른 특징 전이</a:t>
            </a:r>
            <a:endParaRPr lang="en-US" altLang="ko-KR" sz="1600" dirty="0"/>
          </a:p>
          <a:p>
            <a:pPr>
              <a:lnSpc>
                <a:spcPct val="150000"/>
              </a:lnSpc>
              <a:buFontTx/>
              <a:buChar char="-"/>
            </a:pPr>
            <a:endParaRPr lang="en-US" altLang="ko-KR" sz="1800" dirty="0"/>
          </a:p>
        </p:txBody>
      </p:sp>
      <p:cxnSp>
        <p:nvCxnSpPr>
          <p:cNvPr id="5" name="직선 연결선 4">
            <a:extLst>
              <a:ext uri="{FF2B5EF4-FFF2-40B4-BE49-F238E27FC236}">
                <a16:creationId xmlns:a16="http://schemas.microsoft.com/office/drawing/2014/main" id="{BFF9F761-A487-51F5-28FC-08295F40B49F}"/>
              </a:ext>
            </a:extLst>
          </p:cNvPr>
          <p:cNvCxnSpPr>
            <a:cxnSpLocks/>
          </p:cNvCxnSpPr>
          <p:nvPr/>
        </p:nvCxnSpPr>
        <p:spPr>
          <a:xfrm>
            <a:off x="733425" y="1124718"/>
            <a:ext cx="11458575" cy="0"/>
          </a:xfrm>
          <a:prstGeom prst="line">
            <a:avLst/>
          </a:prstGeom>
          <a:ln w="381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그림 5">
            <a:extLst>
              <a:ext uri="{FF2B5EF4-FFF2-40B4-BE49-F238E27FC236}">
                <a16:creationId xmlns:a16="http://schemas.microsoft.com/office/drawing/2014/main" id="{1C9725EB-A451-B595-91F7-6538F2A40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917" y="3692033"/>
            <a:ext cx="4879511" cy="2609971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BEE4798F-6DA1-861A-AD34-4283ECA1DF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8571" y="3692033"/>
            <a:ext cx="4879512" cy="2609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30199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1280</TotalTime>
  <Words>1037</Words>
  <Application>Microsoft Office PowerPoint</Application>
  <PresentationFormat>와이드스크린</PresentationFormat>
  <Paragraphs>190</Paragraphs>
  <Slides>18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2" baseType="lpstr">
      <vt:lpstr>맑은 고딕</vt:lpstr>
      <vt:lpstr>Arial</vt:lpstr>
      <vt:lpstr>Cambria Math</vt:lpstr>
      <vt:lpstr>Office 테마</vt:lpstr>
      <vt:lpstr>실시간 과자 인식 시스템 </vt:lpstr>
      <vt:lpstr>목차</vt:lpstr>
      <vt:lpstr>10종의 과자 인식</vt:lpstr>
      <vt:lpstr>시연 영상</vt:lpstr>
      <vt:lpstr>01 프로젝트 소개</vt:lpstr>
      <vt:lpstr>01 프로젝트 소개</vt:lpstr>
      <vt:lpstr>02 시스템 구조</vt:lpstr>
      <vt:lpstr>02 시스템 구조</vt:lpstr>
      <vt:lpstr>02 시스템 구조</vt:lpstr>
      <vt:lpstr>02 시스템 구조</vt:lpstr>
      <vt:lpstr>02 시스템 구조</vt:lpstr>
      <vt:lpstr>03 파이프라인</vt:lpstr>
      <vt:lpstr>04 과자 인식 결과</vt:lpstr>
      <vt:lpstr>04 과자 인식 결과</vt:lpstr>
      <vt:lpstr>04 과자 인식 결과</vt:lpstr>
      <vt:lpstr>04 과자 인식 결과 및 한계점</vt:lpstr>
      <vt:lpstr>04 과자인식 결과 및 한계점</vt:lpstr>
      <vt:lpstr>04 과자 인식 결과 및 한계점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유채현 (AI학부)</dc:creator>
  <cp:lastModifiedBy>유채현 (AI학부)</cp:lastModifiedBy>
  <cp:revision>17</cp:revision>
  <dcterms:created xsi:type="dcterms:W3CDTF">2026-06-08T18:35:58Z</dcterms:created>
  <dcterms:modified xsi:type="dcterms:W3CDTF">2026-06-10T04:27:51Z</dcterms:modified>
</cp:coreProperties>
</file>